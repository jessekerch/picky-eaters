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
  </p:notesMasterIdLst>
  <p:sldIdLst>
    <p:sldId id="266" r:id="rId2"/>
    <p:sldId id="264" r:id="rId3"/>
    <p:sldId id="265" r:id="rId4"/>
    <p:sldId id="262" r:id="rId5"/>
    <p:sldId id="263" r:id="rId6"/>
    <p:sldId id="267" r:id="rId7"/>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F0"/>
    <a:srgbClr val="FFE4E2"/>
    <a:srgbClr val="F1EC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73"/>
    <p:restoredTop sz="96180"/>
  </p:normalViewPr>
  <p:slideViewPr>
    <p:cSldViewPr snapToGrid="0">
      <p:cViewPr>
        <p:scale>
          <a:sx n="162" d="100"/>
          <a:sy n="162" d="100"/>
        </p:scale>
        <p:origin x="648" y="432"/>
      </p:cViewPr>
      <p:guideLst/>
    </p:cSldViewPr>
  </p:slideViewPr>
  <p:notesTextViewPr>
    <p:cViewPr>
      <p:scale>
        <a:sx n="1" d="1"/>
        <a:sy n="1" d="1"/>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0186A8-2A6C-4F48-97B6-C88D9940106E}" type="datetimeFigureOut">
              <a:rPr lang="en-US" smtClean="0"/>
              <a:t>7/24/23</a:t>
            </a:fld>
            <a:endParaRPr lang="en-US"/>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18F1CD-3930-7348-A9BA-B449ED3EC65E}" type="slidenum">
              <a:rPr lang="en-US" smtClean="0"/>
              <a:t>‹#›</a:t>
            </a:fld>
            <a:endParaRPr lang="en-US"/>
          </a:p>
        </p:txBody>
      </p:sp>
    </p:spTree>
    <p:extLst>
      <p:ext uri="{BB962C8B-B14F-4D97-AF65-F5344CB8AC3E}">
        <p14:creationId xmlns:p14="http://schemas.microsoft.com/office/powerpoint/2010/main" val="1507575082"/>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Picky Eaters supports quick meal planning. Planning family dinners every week is tough. First we need to find or recall the many dinner recipes, then we need to narrow them down by ingredients on hand and picky family member tastes.</a:t>
            </a:r>
          </a:p>
          <a:p>
            <a:endParaRPr lang="en-US" dirty="0"/>
          </a:p>
          <a:p>
            <a:r>
              <a:rPr lang="en-US" dirty="0"/>
              <a:t>This could be for a mom or dad or anyone cooking for a "family" on a regular basis like a roommate with the best cooking skills of the group.</a:t>
            </a:r>
          </a:p>
          <a:p>
            <a:endParaRPr lang="en-US" dirty="0"/>
          </a:p>
          <a:p>
            <a:r>
              <a:rPr lang="en-US" dirty="0"/>
              <a:t>Most recipe apps solve the problem of *how* to make a recipe. Picky Eaters focuses on *what* to make. That's the key to meal planning every week.</a:t>
            </a:r>
          </a:p>
          <a:p>
            <a:endParaRPr lang="en-US" dirty="0"/>
          </a:p>
        </p:txBody>
      </p:sp>
      <p:sp>
        <p:nvSpPr>
          <p:cNvPr id="4" name="Slide Number Placeholder 3"/>
          <p:cNvSpPr>
            <a:spLocks noGrp="1"/>
          </p:cNvSpPr>
          <p:nvPr>
            <p:ph type="sldNum" sz="quarter" idx="5"/>
          </p:nvPr>
        </p:nvSpPr>
        <p:spPr/>
        <p:txBody>
          <a:bodyPr/>
          <a:lstStyle/>
          <a:p>
            <a:fld id="{5E18F1CD-3930-7348-A9BA-B449ED3EC65E}" type="slidenum">
              <a:rPr lang="en-US" smtClean="0"/>
              <a:t>1</a:t>
            </a:fld>
            <a:endParaRPr lang="en-US"/>
          </a:p>
        </p:txBody>
      </p:sp>
    </p:spTree>
    <p:extLst>
      <p:ext uri="{BB962C8B-B14F-4D97-AF65-F5344CB8AC3E}">
        <p14:creationId xmlns:p14="http://schemas.microsoft.com/office/powerpoint/2010/main" val="22130118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Picky Eaters is a web app designed to support quick meal planning.</a:t>
            </a:r>
          </a:p>
          <a:p>
            <a:endParaRPr lang="en-US" dirty="0"/>
          </a:p>
          <a:p>
            <a:r>
              <a:rPr lang="en-US" dirty="0"/>
              <a:t>Problem - Planning family dinners every week is tough. First we need to find or recall the many dinner recipes, then we need to narrow them down by ingredients on hand and picky family member tastes.</a:t>
            </a:r>
          </a:p>
          <a:p>
            <a:endParaRPr lang="en-US" dirty="0"/>
          </a:p>
          <a:p>
            <a:r>
              <a:rPr lang="en-US" dirty="0"/>
              <a:t>This could be for a mom or dad or anyone cooking for a "family" on a regular basis like a roommate with the best cooking skills of the group.</a:t>
            </a:r>
          </a:p>
          <a:p>
            <a:endParaRPr lang="en-US" dirty="0"/>
          </a:p>
          <a:p>
            <a:r>
              <a:rPr lang="en-US" dirty="0"/>
              <a:t>Most recipe apps solve the problem of *how* to make a recipe. Picky Eaters focuses on *what* to make. That's the key to meal planning every week.</a:t>
            </a:r>
          </a:p>
          <a:p>
            <a:endParaRPr lang="en-US" dirty="0"/>
          </a:p>
        </p:txBody>
      </p:sp>
      <p:sp>
        <p:nvSpPr>
          <p:cNvPr id="4" name="Slide Number Placeholder 3"/>
          <p:cNvSpPr>
            <a:spLocks noGrp="1"/>
          </p:cNvSpPr>
          <p:nvPr>
            <p:ph type="sldNum" sz="quarter" idx="5"/>
          </p:nvPr>
        </p:nvSpPr>
        <p:spPr/>
        <p:txBody>
          <a:bodyPr/>
          <a:lstStyle/>
          <a:p>
            <a:fld id="{5E18F1CD-3930-7348-A9BA-B449ED3EC65E}" type="slidenum">
              <a:rPr lang="en-US" smtClean="0"/>
              <a:t>2</a:t>
            </a:fld>
            <a:endParaRPr lang="en-US"/>
          </a:p>
        </p:txBody>
      </p:sp>
    </p:spTree>
    <p:extLst>
      <p:ext uri="{BB962C8B-B14F-4D97-AF65-F5344CB8AC3E}">
        <p14:creationId xmlns:p14="http://schemas.microsoft.com/office/powerpoint/2010/main" val="39906362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Picky Eaters allows logged-in users to save recipes, ingredients, and family members. Then each recipe can be associated with the key ingredients, and which family member enjoys the recipe.</a:t>
            </a:r>
          </a:p>
          <a:p>
            <a:endParaRPr lang="en-US" dirty="0"/>
          </a:p>
          <a:p>
            <a:r>
              <a:rPr lang="en-US" dirty="0"/>
              <a:t>Recipe likes are linked to each family member detail page which shows that person's favorites.</a:t>
            </a:r>
          </a:p>
          <a:p>
            <a:endParaRPr lang="en-US" dirty="0"/>
          </a:p>
          <a:p>
            <a:r>
              <a:rPr lang="en-US" dirty="0"/>
              <a:t>Recipe ingredients are linked to each ingredient detail page which shows recipes that ingredient is included in.</a:t>
            </a:r>
          </a:p>
          <a:p>
            <a:endParaRPr lang="en-US" dirty="0"/>
          </a:p>
          <a:p>
            <a:r>
              <a:rPr lang="en-US" dirty="0"/>
              <a:t>If you need some inspiration, just click on the Surprise Me! link to be shown a random recipe. If your family has as many recipes as I do, there are old favorites that fall out of rotation that deserve </a:t>
            </a:r>
            <a:r>
              <a:rPr lang="en-US"/>
              <a:t>another chance.</a:t>
            </a:r>
            <a:endParaRPr lang="en-US" dirty="0"/>
          </a:p>
        </p:txBody>
      </p:sp>
      <p:sp>
        <p:nvSpPr>
          <p:cNvPr id="4" name="Slide Number Placeholder 3"/>
          <p:cNvSpPr>
            <a:spLocks noGrp="1"/>
          </p:cNvSpPr>
          <p:nvPr>
            <p:ph type="sldNum" sz="quarter" idx="5"/>
          </p:nvPr>
        </p:nvSpPr>
        <p:spPr/>
        <p:txBody>
          <a:bodyPr/>
          <a:lstStyle/>
          <a:p>
            <a:fld id="{5E18F1CD-3930-7348-A9BA-B449ED3EC65E}" type="slidenum">
              <a:rPr lang="en-US" smtClean="0"/>
              <a:t>3</a:t>
            </a:fld>
            <a:endParaRPr lang="en-US"/>
          </a:p>
        </p:txBody>
      </p:sp>
    </p:spTree>
    <p:extLst>
      <p:ext uri="{BB962C8B-B14F-4D97-AF65-F5344CB8AC3E}">
        <p14:creationId xmlns:p14="http://schemas.microsoft.com/office/powerpoint/2010/main" val="1946618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Picky Eaters web app uses PostgreSQL for data.</a:t>
            </a:r>
          </a:p>
          <a:p>
            <a:endParaRPr lang="en-US" dirty="0"/>
          </a:p>
          <a:p>
            <a:r>
              <a:rPr lang="en-US" dirty="0"/>
              <a:t>The database is called "recipes" and there are three tables: recipes, ingredients, and members.</a:t>
            </a:r>
          </a:p>
          <a:p>
            <a:endParaRPr lang="en-US" dirty="0"/>
          </a:p>
          <a:p>
            <a:r>
              <a:rPr lang="en-US" dirty="0"/>
              <a:t>Ingredients and members tables each have a many-to-many relationship to the recipes table. recipe_ingredients and recipe_likes are join tables.</a:t>
            </a:r>
          </a:p>
          <a:p>
            <a:endParaRPr lang="en-US" dirty="0"/>
          </a:p>
          <a:p>
            <a:r>
              <a:rPr lang="en-US" dirty="0"/>
              <a:t>Any row can be viewed, deleted, or updated, and new rows can be added. </a:t>
            </a:r>
          </a:p>
        </p:txBody>
      </p:sp>
      <p:sp>
        <p:nvSpPr>
          <p:cNvPr id="4" name="Slide Number Placeholder 3"/>
          <p:cNvSpPr>
            <a:spLocks noGrp="1"/>
          </p:cNvSpPr>
          <p:nvPr>
            <p:ph type="sldNum" sz="quarter" idx="5"/>
          </p:nvPr>
        </p:nvSpPr>
        <p:spPr/>
        <p:txBody>
          <a:bodyPr/>
          <a:lstStyle/>
          <a:p>
            <a:fld id="{5E18F1CD-3930-7348-A9BA-B449ED3EC65E}" type="slidenum">
              <a:rPr lang="en-US" smtClean="0"/>
              <a:t>4</a:t>
            </a:fld>
            <a:endParaRPr lang="en-US"/>
          </a:p>
        </p:txBody>
      </p:sp>
    </p:spTree>
    <p:extLst>
      <p:ext uri="{BB962C8B-B14F-4D97-AF65-F5344CB8AC3E}">
        <p14:creationId xmlns:p14="http://schemas.microsoft.com/office/powerpoint/2010/main" val="2750563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text input was easy to handle, as it was passed as a string. The checkbox inputs were more challenging, as I wanted to know what new checkboxes needed to be added, and what old checkboxes needed to be removed.</a:t>
            </a:r>
          </a:p>
          <a:p>
            <a:endParaRPr lang="en-US" dirty="0"/>
          </a:p>
          <a:p>
            <a:r>
              <a:rPr lang="en-US" dirty="0"/>
              <a:t>I learned that adding square brackets to the input name attribute would pass the values as elements in an array. I could then compare the new array to the previous array to determine the changes.</a:t>
            </a:r>
          </a:p>
          <a:p>
            <a:endParaRPr lang="en-US" dirty="0"/>
          </a:p>
          <a:p>
            <a:r>
              <a:rPr lang="en-US" dirty="0"/>
              <a:t>2. Juggling valid and invalid data for creating and updating objects needed to be handled differently. Especially when updating a recipe object, it helped me to know the id number of the row of data being updated, so I passed that parameter as a hidden input.</a:t>
            </a:r>
          </a:p>
          <a:p>
            <a:endParaRPr lang="en-US" dirty="0"/>
          </a:p>
          <a:p>
            <a:r>
              <a:rPr lang="en-US" dirty="0"/>
              <a:t>3. Finally, I needed to figure out how to retain the requested page location when requiring user login. I used the session feature of Sinatra to retain it and redirect the user.</a:t>
            </a:r>
          </a:p>
        </p:txBody>
      </p:sp>
      <p:sp>
        <p:nvSpPr>
          <p:cNvPr id="4" name="Slide Number Placeholder 3"/>
          <p:cNvSpPr>
            <a:spLocks noGrp="1"/>
          </p:cNvSpPr>
          <p:nvPr>
            <p:ph type="sldNum" sz="quarter" idx="5"/>
          </p:nvPr>
        </p:nvSpPr>
        <p:spPr/>
        <p:txBody>
          <a:bodyPr/>
          <a:lstStyle/>
          <a:p>
            <a:fld id="{5E18F1CD-3930-7348-A9BA-B449ED3EC65E}" type="slidenum">
              <a:rPr lang="en-US" smtClean="0"/>
              <a:t>5</a:t>
            </a:fld>
            <a:endParaRPr lang="en-US"/>
          </a:p>
        </p:txBody>
      </p:sp>
    </p:spTree>
    <p:extLst>
      <p:ext uri="{BB962C8B-B14F-4D97-AF65-F5344CB8AC3E}">
        <p14:creationId xmlns:p14="http://schemas.microsoft.com/office/powerpoint/2010/main" val="296123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Picky Eaters supports quick meal planning. Planning family dinners every week is tough. First we need to find or recall the many dinner recipes, then we need to narrow them down by ingredients on hand and picky family member tastes.</a:t>
            </a:r>
          </a:p>
          <a:p>
            <a:endParaRPr lang="en-US" dirty="0"/>
          </a:p>
          <a:p>
            <a:r>
              <a:rPr lang="en-US" dirty="0"/>
              <a:t>This could be for a mom or dad or anyone cooking for a "family" on a regular basis like a roommate with the best cooking skills of the group.</a:t>
            </a:r>
          </a:p>
          <a:p>
            <a:endParaRPr lang="en-US" dirty="0"/>
          </a:p>
          <a:p>
            <a:r>
              <a:rPr lang="en-US" dirty="0"/>
              <a:t>Most recipe apps solve the problem of *how* to make a recipe. Picky Eaters focuses on *what* to make. That's the key to meal planning every week.</a:t>
            </a:r>
          </a:p>
          <a:p>
            <a:endParaRPr lang="en-US" dirty="0"/>
          </a:p>
        </p:txBody>
      </p:sp>
      <p:sp>
        <p:nvSpPr>
          <p:cNvPr id="4" name="Slide Number Placeholder 3"/>
          <p:cNvSpPr>
            <a:spLocks noGrp="1"/>
          </p:cNvSpPr>
          <p:nvPr>
            <p:ph type="sldNum" sz="quarter" idx="5"/>
          </p:nvPr>
        </p:nvSpPr>
        <p:spPr/>
        <p:txBody>
          <a:bodyPr/>
          <a:lstStyle/>
          <a:p>
            <a:fld id="{5E18F1CD-3930-7348-A9BA-B449ED3EC65E}" type="slidenum">
              <a:rPr lang="en-US" smtClean="0"/>
              <a:t>6</a:t>
            </a:fld>
            <a:endParaRPr lang="en-US"/>
          </a:p>
        </p:txBody>
      </p:sp>
    </p:spTree>
    <p:extLst>
      <p:ext uri="{BB962C8B-B14F-4D97-AF65-F5344CB8AC3E}">
        <p14:creationId xmlns:p14="http://schemas.microsoft.com/office/powerpoint/2010/main" val="3684299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FE60532-DEF1-0C49-A7EA-30F2EBAFEDB9}" type="datetimeFigureOut">
              <a:rPr lang="en-US" smtClean="0"/>
              <a:t>7/23/23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6A498-7123-7D41-99C4-58063F34F407}" type="slidenum">
              <a:rPr lang="en-US" smtClean="0"/>
              <a:t>‹#›</a:t>
            </a:fld>
            <a:endParaRPr lang="en-US"/>
          </a:p>
        </p:txBody>
      </p:sp>
    </p:spTree>
    <p:extLst>
      <p:ext uri="{BB962C8B-B14F-4D97-AF65-F5344CB8AC3E}">
        <p14:creationId xmlns:p14="http://schemas.microsoft.com/office/powerpoint/2010/main" val="345690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E60532-DEF1-0C49-A7EA-30F2EBAFEDB9}" type="datetimeFigureOut">
              <a:rPr lang="en-US" smtClean="0"/>
              <a:t>7/23/23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6A498-7123-7D41-99C4-58063F34F407}" type="slidenum">
              <a:rPr lang="en-US" smtClean="0"/>
              <a:t>‹#›</a:t>
            </a:fld>
            <a:endParaRPr lang="en-US"/>
          </a:p>
        </p:txBody>
      </p:sp>
    </p:spTree>
    <p:extLst>
      <p:ext uri="{BB962C8B-B14F-4D97-AF65-F5344CB8AC3E}">
        <p14:creationId xmlns:p14="http://schemas.microsoft.com/office/powerpoint/2010/main" val="3977771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7" y="1424782"/>
            <a:ext cx="7886700" cy="2377281"/>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7" y="3824553"/>
            <a:ext cx="7886700" cy="1250156"/>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E60532-DEF1-0C49-A7EA-30F2EBAFEDB9}" type="datetimeFigureOut">
              <a:rPr lang="en-US" smtClean="0"/>
              <a:t>7/23/23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6A498-7123-7D41-99C4-58063F34F407}" type="slidenum">
              <a:rPr lang="en-US" smtClean="0"/>
              <a:t>‹#›</a:t>
            </a:fld>
            <a:endParaRPr lang="en-US"/>
          </a:p>
        </p:txBody>
      </p:sp>
    </p:spTree>
    <p:extLst>
      <p:ext uri="{BB962C8B-B14F-4D97-AF65-F5344CB8AC3E}">
        <p14:creationId xmlns:p14="http://schemas.microsoft.com/office/powerpoint/2010/main" val="3559214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521354"/>
            <a:ext cx="3886200" cy="36261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521354"/>
            <a:ext cx="3886200" cy="36261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FE60532-DEF1-0C49-A7EA-30F2EBAFEDB9}" type="datetimeFigureOut">
              <a:rPr lang="en-US" smtClean="0"/>
              <a:t>7/23/23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16A498-7123-7D41-99C4-58063F34F407}" type="slidenum">
              <a:rPr lang="en-US" smtClean="0"/>
              <a:t>‹#›</a:t>
            </a:fld>
            <a:endParaRPr lang="en-US"/>
          </a:p>
        </p:txBody>
      </p:sp>
    </p:spTree>
    <p:extLst>
      <p:ext uri="{BB962C8B-B14F-4D97-AF65-F5344CB8AC3E}">
        <p14:creationId xmlns:p14="http://schemas.microsoft.com/office/powerpoint/2010/main" val="3493698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04271"/>
            <a:ext cx="7886700" cy="1104636"/>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087563"/>
            <a:ext cx="3868340" cy="3070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087563"/>
            <a:ext cx="3887391" cy="3070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FE60532-DEF1-0C49-A7EA-30F2EBAFEDB9}" type="datetimeFigureOut">
              <a:rPr lang="en-US" smtClean="0"/>
              <a:t>7/23/23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16A498-7123-7D41-99C4-58063F34F407}" type="slidenum">
              <a:rPr lang="en-US" smtClean="0"/>
              <a:t>‹#›</a:t>
            </a:fld>
            <a:endParaRPr lang="en-US"/>
          </a:p>
        </p:txBody>
      </p:sp>
    </p:spTree>
    <p:extLst>
      <p:ext uri="{BB962C8B-B14F-4D97-AF65-F5344CB8AC3E}">
        <p14:creationId xmlns:p14="http://schemas.microsoft.com/office/powerpoint/2010/main" val="3822384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E60532-DEF1-0C49-A7EA-30F2EBAFEDB9}" type="datetimeFigureOut">
              <a:rPr lang="en-US" smtClean="0"/>
              <a:t>7/23/23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16A498-7123-7D41-99C4-58063F34F407}" type="slidenum">
              <a:rPr lang="en-US" smtClean="0"/>
              <a:t>‹#›</a:t>
            </a:fld>
            <a:endParaRPr lang="en-US"/>
          </a:p>
        </p:txBody>
      </p:sp>
    </p:spTree>
    <p:extLst>
      <p:ext uri="{BB962C8B-B14F-4D97-AF65-F5344CB8AC3E}">
        <p14:creationId xmlns:p14="http://schemas.microsoft.com/office/powerpoint/2010/main" val="3499117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E60532-DEF1-0C49-A7EA-30F2EBAFEDB9}" type="datetimeFigureOut">
              <a:rPr lang="en-US" smtClean="0"/>
              <a:t>7/23/23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16A498-7123-7D41-99C4-58063F34F407}" type="slidenum">
              <a:rPr lang="en-US" smtClean="0"/>
              <a:t>‹#›</a:t>
            </a:fld>
            <a:endParaRPr lang="en-US"/>
          </a:p>
        </p:txBody>
      </p:sp>
    </p:spTree>
    <p:extLst>
      <p:ext uri="{BB962C8B-B14F-4D97-AF65-F5344CB8AC3E}">
        <p14:creationId xmlns:p14="http://schemas.microsoft.com/office/powerpoint/2010/main" val="1688978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FE60532-DEF1-0C49-A7EA-30F2EBAFEDB9}" type="datetimeFigureOut">
              <a:rPr lang="en-US" smtClean="0"/>
              <a:t>7/23/23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16A498-7123-7D41-99C4-58063F34F407}" type="slidenum">
              <a:rPr lang="en-US" smtClean="0"/>
              <a:t>‹#›</a:t>
            </a:fld>
            <a:endParaRPr lang="en-US"/>
          </a:p>
        </p:txBody>
      </p:sp>
    </p:spTree>
    <p:extLst>
      <p:ext uri="{BB962C8B-B14F-4D97-AF65-F5344CB8AC3E}">
        <p14:creationId xmlns:p14="http://schemas.microsoft.com/office/powerpoint/2010/main" val="1493617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822855"/>
            <a:ext cx="4629150" cy="4061354"/>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FE60532-DEF1-0C49-A7EA-30F2EBAFEDB9}" type="datetimeFigureOut">
              <a:rPr lang="en-US" smtClean="0"/>
              <a:t>7/23/23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16A498-7123-7D41-99C4-58063F34F407}" type="slidenum">
              <a:rPr lang="en-US" smtClean="0"/>
              <a:t>‹#›</a:t>
            </a:fld>
            <a:endParaRPr lang="en-US"/>
          </a:p>
        </p:txBody>
      </p:sp>
    </p:spTree>
    <p:extLst>
      <p:ext uri="{BB962C8B-B14F-4D97-AF65-F5344CB8AC3E}">
        <p14:creationId xmlns:p14="http://schemas.microsoft.com/office/powerpoint/2010/main" val="1382419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E60532-DEF1-0C49-A7EA-30F2EBAFEDB9}" type="datetimeFigureOut">
              <a:rPr lang="en-US" smtClean="0"/>
              <a:t>7/23/23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6A498-7123-7D41-99C4-58063F34F407}" type="slidenum">
              <a:rPr lang="en-US" smtClean="0"/>
              <a:t>‹#›</a:t>
            </a:fld>
            <a:endParaRPr lang="en-US"/>
          </a:p>
        </p:txBody>
      </p:sp>
    </p:spTree>
    <p:extLst>
      <p:ext uri="{BB962C8B-B14F-4D97-AF65-F5344CB8AC3E}">
        <p14:creationId xmlns:p14="http://schemas.microsoft.com/office/powerpoint/2010/main" val="1869207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04271"/>
            <a:ext cx="1971675" cy="48431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04271"/>
            <a:ext cx="5800725" cy="484319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E60532-DEF1-0C49-A7EA-30F2EBAFEDB9}" type="datetimeFigureOut">
              <a:rPr lang="en-US" smtClean="0"/>
              <a:t>7/23/23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6A498-7123-7D41-99C4-58063F34F407}" type="slidenum">
              <a:rPr lang="en-US" smtClean="0"/>
              <a:t>‹#›</a:t>
            </a:fld>
            <a:endParaRPr lang="en-US"/>
          </a:p>
        </p:txBody>
      </p:sp>
    </p:spTree>
    <p:extLst>
      <p:ext uri="{BB962C8B-B14F-4D97-AF65-F5344CB8AC3E}">
        <p14:creationId xmlns:p14="http://schemas.microsoft.com/office/powerpoint/2010/main" val="1915252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900">
                <a:solidFill>
                  <a:schemeClr val="tx1">
                    <a:tint val="75000"/>
                  </a:schemeClr>
                </a:solidFill>
              </a:defRPr>
            </a:lvl1pPr>
          </a:lstStyle>
          <a:p>
            <a:fld id="{1FE60532-DEF1-0C49-A7EA-30F2EBAFEDB9}" type="datetimeFigureOut">
              <a:rPr lang="en-US" smtClean="0"/>
              <a:t>7/23/23</a:t>
            </a:fld>
            <a:endParaRPr lang="en-US"/>
          </a:p>
        </p:txBody>
      </p:sp>
      <p:sp>
        <p:nvSpPr>
          <p:cNvPr id="5" name="Footer Placeholder 4"/>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75000"/>
                  </a:schemeClr>
                </a:solidFill>
              </a:defRPr>
            </a:lvl1pPr>
          </a:lstStyle>
          <a:p>
            <a:fld id="{9616A498-7123-7D41-99C4-58063F34F407}" type="slidenum">
              <a:rPr lang="en-US" smtClean="0"/>
              <a:t>‹#›</a:t>
            </a:fld>
            <a:endParaRPr lang="en-US"/>
          </a:p>
        </p:txBody>
      </p:sp>
    </p:spTree>
    <p:extLst>
      <p:ext uri="{BB962C8B-B14F-4D97-AF65-F5344CB8AC3E}">
        <p14:creationId xmlns:p14="http://schemas.microsoft.com/office/powerpoint/2010/main" val="26710042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ounded Rectangle 14">
            <a:extLst>
              <a:ext uri="{FF2B5EF4-FFF2-40B4-BE49-F238E27FC236}">
                <a16:creationId xmlns:a16="http://schemas.microsoft.com/office/drawing/2014/main" id="{62C903E8-161A-C630-E816-0E960EA3CB5B}"/>
              </a:ext>
            </a:extLst>
          </p:cNvPr>
          <p:cNvSpPr/>
          <p:nvPr/>
        </p:nvSpPr>
        <p:spPr>
          <a:xfrm>
            <a:off x="1464532" y="772647"/>
            <a:ext cx="6057282" cy="2363488"/>
          </a:xfrm>
          <a:custGeom>
            <a:avLst/>
            <a:gdLst>
              <a:gd name="connsiteX0" fmla="*/ 0 w 6057282"/>
              <a:gd name="connsiteY0" fmla="*/ 393923 h 2363488"/>
              <a:gd name="connsiteX1" fmla="*/ 393923 w 6057282"/>
              <a:gd name="connsiteY1" fmla="*/ 0 h 2363488"/>
              <a:gd name="connsiteX2" fmla="*/ 1157991 w 6057282"/>
              <a:gd name="connsiteY2" fmla="*/ 0 h 2363488"/>
              <a:gd name="connsiteX3" fmla="*/ 1763976 w 6057282"/>
              <a:gd name="connsiteY3" fmla="*/ 0 h 2363488"/>
              <a:gd name="connsiteX4" fmla="*/ 2317267 w 6057282"/>
              <a:gd name="connsiteY4" fmla="*/ 0 h 2363488"/>
              <a:gd name="connsiteX5" fmla="*/ 3028641 w 6057282"/>
              <a:gd name="connsiteY5" fmla="*/ 0 h 2363488"/>
              <a:gd name="connsiteX6" fmla="*/ 3634626 w 6057282"/>
              <a:gd name="connsiteY6" fmla="*/ 0 h 2363488"/>
              <a:gd name="connsiteX7" fmla="*/ 4398694 w 6057282"/>
              <a:gd name="connsiteY7" fmla="*/ 0 h 2363488"/>
              <a:gd name="connsiteX8" fmla="*/ 4951985 w 6057282"/>
              <a:gd name="connsiteY8" fmla="*/ 0 h 2363488"/>
              <a:gd name="connsiteX9" fmla="*/ 5663359 w 6057282"/>
              <a:gd name="connsiteY9" fmla="*/ 0 h 2363488"/>
              <a:gd name="connsiteX10" fmla="*/ 6057282 w 6057282"/>
              <a:gd name="connsiteY10" fmla="*/ 393923 h 2363488"/>
              <a:gd name="connsiteX11" fmla="*/ 6057282 w 6057282"/>
              <a:gd name="connsiteY11" fmla="*/ 919137 h 2363488"/>
              <a:gd name="connsiteX12" fmla="*/ 6057282 w 6057282"/>
              <a:gd name="connsiteY12" fmla="*/ 1428595 h 2363488"/>
              <a:gd name="connsiteX13" fmla="*/ 6057282 w 6057282"/>
              <a:gd name="connsiteY13" fmla="*/ 1969565 h 2363488"/>
              <a:gd name="connsiteX14" fmla="*/ 5663359 w 6057282"/>
              <a:gd name="connsiteY14" fmla="*/ 2363488 h 2363488"/>
              <a:gd name="connsiteX15" fmla="*/ 5004680 w 6057282"/>
              <a:gd name="connsiteY15" fmla="*/ 2363488 h 2363488"/>
              <a:gd name="connsiteX16" fmla="*/ 4240611 w 6057282"/>
              <a:gd name="connsiteY16" fmla="*/ 2363488 h 2363488"/>
              <a:gd name="connsiteX17" fmla="*/ 3581932 w 6057282"/>
              <a:gd name="connsiteY17" fmla="*/ 2363488 h 2363488"/>
              <a:gd name="connsiteX18" fmla="*/ 3081335 w 6057282"/>
              <a:gd name="connsiteY18" fmla="*/ 2363488 h 2363488"/>
              <a:gd name="connsiteX19" fmla="*/ 2528045 w 6057282"/>
              <a:gd name="connsiteY19" fmla="*/ 2363488 h 2363488"/>
              <a:gd name="connsiteX20" fmla="*/ 1763976 w 6057282"/>
              <a:gd name="connsiteY20" fmla="*/ 2363488 h 2363488"/>
              <a:gd name="connsiteX21" fmla="*/ 1105297 w 6057282"/>
              <a:gd name="connsiteY21" fmla="*/ 2363488 h 2363488"/>
              <a:gd name="connsiteX22" fmla="*/ 393923 w 6057282"/>
              <a:gd name="connsiteY22" fmla="*/ 2363488 h 2363488"/>
              <a:gd name="connsiteX23" fmla="*/ 0 w 6057282"/>
              <a:gd name="connsiteY23" fmla="*/ 1969565 h 2363488"/>
              <a:gd name="connsiteX24" fmla="*/ 0 w 6057282"/>
              <a:gd name="connsiteY24" fmla="*/ 1444351 h 2363488"/>
              <a:gd name="connsiteX25" fmla="*/ 0 w 6057282"/>
              <a:gd name="connsiteY25" fmla="*/ 919137 h 2363488"/>
              <a:gd name="connsiteX26" fmla="*/ 0 w 6057282"/>
              <a:gd name="connsiteY26" fmla="*/ 393923 h 2363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57282" h="2363488" extrusionOk="0">
                <a:moveTo>
                  <a:pt x="0" y="393923"/>
                </a:moveTo>
                <a:cubicBezTo>
                  <a:pt x="-44262" y="149063"/>
                  <a:pt x="127807" y="18225"/>
                  <a:pt x="393923" y="0"/>
                </a:cubicBezTo>
                <a:cubicBezTo>
                  <a:pt x="630548" y="-8326"/>
                  <a:pt x="1001318" y="-26628"/>
                  <a:pt x="1157991" y="0"/>
                </a:cubicBezTo>
                <a:cubicBezTo>
                  <a:pt x="1314664" y="26628"/>
                  <a:pt x="1553564" y="29028"/>
                  <a:pt x="1763976" y="0"/>
                </a:cubicBezTo>
                <a:cubicBezTo>
                  <a:pt x="1974389" y="-29028"/>
                  <a:pt x="2107183" y="-11959"/>
                  <a:pt x="2317267" y="0"/>
                </a:cubicBezTo>
                <a:cubicBezTo>
                  <a:pt x="2527351" y="11959"/>
                  <a:pt x="2724829" y="1877"/>
                  <a:pt x="3028641" y="0"/>
                </a:cubicBezTo>
                <a:cubicBezTo>
                  <a:pt x="3332453" y="-1877"/>
                  <a:pt x="3417785" y="26816"/>
                  <a:pt x="3634626" y="0"/>
                </a:cubicBezTo>
                <a:cubicBezTo>
                  <a:pt x="3851467" y="-26816"/>
                  <a:pt x="4109642" y="-26006"/>
                  <a:pt x="4398694" y="0"/>
                </a:cubicBezTo>
                <a:cubicBezTo>
                  <a:pt x="4687746" y="26006"/>
                  <a:pt x="4772191" y="-12118"/>
                  <a:pt x="4951985" y="0"/>
                </a:cubicBezTo>
                <a:cubicBezTo>
                  <a:pt x="5131779" y="12118"/>
                  <a:pt x="5491173" y="-4351"/>
                  <a:pt x="5663359" y="0"/>
                </a:cubicBezTo>
                <a:cubicBezTo>
                  <a:pt x="5910510" y="7115"/>
                  <a:pt x="6027434" y="171537"/>
                  <a:pt x="6057282" y="393923"/>
                </a:cubicBezTo>
                <a:cubicBezTo>
                  <a:pt x="6032825" y="542348"/>
                  <a:pt x="6032943" y="726764"/>
                  <a:pt x="6057282" y="919137"/>
                </a:cubicBezTo>
                <a:cubicBezTo>
                  <a:pt x="6081621" y="1111510"/>
                  <a:pt x="6033357" y="1205530"/>
                  <a:pt x="6057282" y="1428595"/>
                </a:cubicBezTo>
                <a:cubicBezTo>
                  <a:pt x="6081207" y="1651660"/>
                  <a:pt x="6063298" y="1740877"/>
                  <a:pt x="6057282" y="1969565"/>
                </a:cubicBezTo>
                <a:cubicBezTo>
                  <a:pt x="6074736" y="2165456"/>
                  <a:pt x="5834352" y="2345487"/>
                  <a:pt x="5663359" y="2363488"/>
                </a:cubicBezTo>
                <a:cubicBezTo>
                  <a:pt x="5462360" y="2387285"/>
                  <a:pt x="5224380" y="2374018"/>
                  <a:pt x="5004680" y="2363488"/>
                </a:cubicBezTo>
                <a:cubicBezTo>
                  <a:pt x="4784980" y="2352958"/>
                  <a:pt x="4596760" y="2376936"/>
                  <a:pt x="4240611" y="2363488"/>
                </a:cubicBezTo>
                <a:cubicBezTo>
                  <a:pt x="3884462" y="2350040"/>
                  <a:pt x="3822853" y="2375427"/>
                  <a:pt x="3581932" y="2363488"/>
                </a:cubicBezTo>
                <a:cubicBezTo>
                  <a:pt x="3341011" y="2351549"/>
                  <a:pt x="3227538" y="2383657"/>
                  <a:pt x="3081335" y="2363488"/>
                </a:cubicBezTo>
                <a:cubicBezTo>
                  <a:pt x="2935132" y="2343319"/>
                  <a:pt x="2796345" y="2346731"/>
                  <a:pt x="2528045" y="2363488"/>
                </a:cubicBezTo>
                <a:cubicBezTo>
                  <a:pt x="2259745" y="2380246"/>
                  <a:pt x="2047633" y="2375027"/>
                  <a:pt x="1763976" y="2363488"/>
                </a:cubicBezTo>
                <a:cubicBezTo>
                  <a:pt x="1480319" y="2351949"/>
                  <a:pt x="1400567" y="2390718"/>
                  <a:pt x="1105297" y="2363488"/>
                </a:cubicBezTo>
                <a:cubicBezTo>
                  <a:pt x="810027" y="2336258"/>
                  <a:pt x="567953" y="2378684"/>
                  <a:pt x="393923" y="2363488"/>
                </a:cubicBezTo>
                <a:cubicBezTo>
                  <a:pt x="175481" y="2339637"/>
                  <a:pt x="33737" y="2194158"/>
                  <a:pt x="0" y="1969565"/>
                </a:cubicBezTo>
                <a:cubicBezTo>
                  <a:pt x="-3908" y="1806960"/>
                  <a:pt x="18577" y="1552778"/>
                  <a:pt x="0" y="1444351"/>
                </a:cubicBezTo>
                <a:cubicBezTo>
                  <a:pt x="-18577" y="1335924"/>
                  <a:pt x="12697" y="1160133"/>
                  <a:pt x="0" y="919137"/>
                </a:cubicBezTo>
                <a:cubicBezTo>
                  <a:pt x="-12697" y="678141"/>
                  <a:pt x="20217" y="543490"/>
                  <a:pt x="0" y="393923"/>
                </a:cubicBezTo>
                <a:close/>
              </a:path>
            </a:pathLst>
          </a:custGeom>
          <a:noFill/>
          <a:ln w="9525" cmpd="sng">
            <a:solidFill>
              <a:schemeClr val="tx1">
                <a:lumMod val="85000"/>
                <a:lumOff val="15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blue and pink letters on a black background&#10;&#10;Description automatically generated">
            <a:extLst>
              <a:ext uri="{FF2B5EF4-FFF2-40B4-BE49-F238E27FC236}">
                <a16:creationId xmlns:a16="http://schemas.microsoft.com/office/drawing/2014/main" id="{3E95F2AA-959E-10D2-1820-1E236C675B59}"/>
              </a:ext>
            </a:extLst>
          </p:cNvPr>
          <p:cNvPicPr>
            <a:picLocks noChangeAspect="1"/>
          </p:cNvPicPr>
          <p:nvPr/>
        </p:nvPicPr>
        <p:blipFill>
          <a:blip r:embed="rId3"/>
          <a:stretch>
            <a:fillRect/>
          </a:stretch>
        </p:blipFill>
        <p:spPr>
          <a:xfrm rot="470711">
            <a:off x="1847813" y="1048218"/>
            <a:ext cx="5406972" cy="1978952"/>
          </a:xfrm>
          <a:prstGeom prst="rect">
            <a:avLst/>
          </a:prstGeom>
        </p:spPr>
      </p:pic>
      <p:sp>
        <p:nvSpPr>
          <p:cNvPr id="14" name="TextBox 13">
            <a:extLst>
              <a:ext uri="{FF2B5EF4-FFF2-40B4-BE49-F238E27FC236}">
                <a16:creationId xmlns:a16="http://schemas.microsoft.com/office/drawing/2014/main" id="{898D22AD-ECE8-0582-68B7-5ABFFA28DC08}"/>
              </a:ext>
            </a:extLst>
          </p:cNvPr>
          <p:cNvSpPr txBox="1"/>
          <p:nvPr/>
        </p:nvSpPr>
        <p:spPr>
          <a:xfrm>
            <a:off x="1464531" y="3570866"/>
            <a:ext cx="2759473" cy="1292662"/>
          </a:xfrm>
          <a:prstGeom prst="rect">
            <a:avLst/>
          </a:prstGeom>
          <a:solidFill>
            <a:schemeClr val="bg1"/>
          </a:solidFill>
        </p:spPr>
        <p:txBody>
          <a:bodyPr wrap="none" rtlCol="0">
            <a:spAutoFit/>
          </a:bodyPr>
          <a:lstStyle/>
          <a:p>
            <a:r>
              <a:rPr lang="en-US" dirty="0"/>
              <a:t>by Jesse Kercheval</a:t>
            </a:r>
          </a:p>
          <a:p>
            <a:r>
              <a:rPr lang="en-US" dirty="0"/>
              <a:t>for Launch School RB189</a:t>
            </a:r>
          </a:p>
          <a:p>
            <a:endParaRPr lang="en-US" sz="1400" dirty="0"/>
          </a:p>
          <a:p>
            <a:r>
              <a:rPr lang="en-US" sz="1400" dirty="0"/>
              <a:t>a complete Sinatra application</a:t>
            </a:r>
          </a:p>
          <a:p>
            <a:r>
              <a:rPr lang="en-US" sz="1400" dirty="0"/>
              <a:t>using ERB as the templating system</a:t>
            </a:r>
          </a:p>
        </p:txBody>
      </p:sp>
      <p:sp>
        <p:nvSpPr>
          <p:cNvPr id="23" name="Rectangle 22">
            <a:extLst>
              <a:ext uri="{FF2B5EF4-FFF2-40B4-BE49-F238E27FC236}">
                <a16:creationId xmlns:a16="http://schemas.microsoft.com/office/drawing/2014/main" id="{8D40932A-8EEE-B0AD-D21C-83CA164D2483}"/>
              </a:ext>
            </a:extLst>
          </p:cNvPr>
          <p:cNvSpPr/>
          <p:nvPr/>
        </p:nvSpPr>
        <p:spPr>
          <a:xfrm>
            <a:off x="3968680" y="3101989"/>
            <a:ext cx="2245450" cy="84186"/>
          </a:xfrm>
          <a:prstGeom prst="rect">
            <a:avLst/>
          </a:prstGeom>
          <a:solidFill>
            <a:schemeClr val="bg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25F301AD-C763-BD09-F6A6-2C3261DB13C9}"/>
              </a:ext>
            </a:extLst>
          </p:cNvPr>
          <p:cNvSpPr txBox="1"/>
          <p:nvPr/>
        </p:nvSpPr>
        <p:spPr>
          <a:xfrm>
            <a:off x="3878066" y="2673721"/>
            <a:ext cx="2451890" cy="769441"/>
          </a:xfrm>
          <a:prstGeom prst="rect">
            <a:avLst/>
          </a:prstGeom>
          <a:noFill/>
        </p:spPr>
        <p:txBody>
          <a:bodyPr wrap="none" rtlCol="0">
            <a:spAutoFit/>
          </a:bodyPr>
          <a:lstStyle/>
          <a:p>
            <a:r>
              <a:rPr lang="en-US" sz="4400" dirty="0">
                <a:solidFill>
                  <a:schemeClr val="tx1">
                    <a:lumMod val="85000"/>
                    <a:lumOff val="15000"/>
                  </a:schemeClr>
                </a:solidFill>
                <a:latin typeface="Brush Script MT" panose="03060802040406070304" pitchFamily="66" charset="-122"/>
                <a:ea typeface="Brush Script MT" panose="03060802040406070304" pitchFamily="66" charset="-122"/>
                <a:cs typeface="Brush Script MT" panose="03060802040406070304" pitchFamily="66" charset="-122"/>
              </a:rPr>
              <a:t>recipe keeper</a:t>
            </a:r>
          </a:p>
        </p:txBody>
      </p:sp>
    </p:spTree>
    <p:extLst>
      <p:ext uri="{BB962C8B-B14F-4D97-AF65-F5344CB8AC3E}">
        <p14:creationId xmlns:p14="http://schemas.microsoft.com/office/powerpoint/2010/main" val="3310214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screenshot of a recipe&#10;&#10;Description automatically generated">
            <a:extLst>
              <a:ext uri="{FF2B5EF4-FFF2-40B4-BE49-F238E27FC236}">
                <a16:creationId xmlns:a16="http://schemas.microsoft.com/office/drawing/2014/main" id="{202FFEA4-2696-0BDD-DC99-07087A42D7F2}"/>
              </a:ext>
            </a:extLst>
          </p:cNvPr>
          <p:cNvPicPr>
            <a:picLocks noChangeAspect="1"/>
          </p:cNvPicPr>
          <p:nvPr/>
        </p:nvPicPr>
        <p:blipFill rotWithShape="1">
          <a:blip r:embed="rId3"/>
          <a:srcRect t="1355" b="1331"/>
          <a:stretch/>
        </p:blipFill>
        <p:spPr>
          <a:xfrm>
            <a:off x="3968524" y="298794"/>
            <a:ext cx="4899785" cy="5117412"/>
          </a:xfrm>
          <a:prstGeom prst="rect">
            <a:avLst/>
          </a:prstGeom>
        </p:spPr>
      </p:pic>
      <p:sp>
        <p:nvSpPr>
          <p:cNvPr id="10" name="Title 1">
            <a:extLst>
              <a:ext uri="{FF2B5EF4-FFF2-40B4-BE49-F238E27FC236}">
                <a16:creationId xmlns:a16="http://schemas.microsoft.com/office/drawing/2014/main" id="{9A7DB5C3-5841-7A73-AC53-F8C9DD6397E5}"/>
              </a:ext>
            </a:extLst>
          </p:cNvPr>
          <p:cNvSpPr>
            <a:spLocks noGrp="1"/>
          </p:cNvSpPr>
          <p:nvPr>
            <p:ph type="title"/>
          </p:nvPr>
        </p:nvSpPr>
        <p:spPr>
          <a:xfrm>
            <a:off x="629841" y="381000"/>
            <a:ext cx="2949178" cy="1333500"/>
          </a:xfrm>
        </p:spPr>
        <p:txBody>
          <a:bodyPr/>
          <a:lstStyle/>
          <a:p>
            <a:pPr algn="ctr"/>
            <a:r>
              <a:rPr lang="en-US" b="1" dirty="0"/>
              <a:t>About</a:t>
            </a:r>
          </a:p>
        </p:txBody>
      </p:sp>
      <p:sp>
        <p:nvSpPr>
          <p:cNvPr id="11" name="Text Placeholder 3">
            <a:extLst>
              <a:ext uri="{FF2B5EF4-FFF2-40B4-BE49-F238E27FC236}">
                <a16:creationId xmlns:a16="http://schemas.microsoft.com/office/drawing/2014/main" id="{A51948E1-0D1D-89A2-09BE-5B26DB935969}"/>
              </a:ext>
            </a:extLst>
          </p:cNvPr>
          <p:cNvSpPr txBox="1">
            <a:spLocks/>
          </p:cNvSpPr>
          <p:nvPr/>
        </p:nvSpPr>
        <p:spPr>
          <a:xfrm>
            <a:off x="629840" y="1969161"/>
            <a:ext cx="2949179" cy="2214039"/>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 typeface="Arial" panose="020B0604020202020204" pitchFamily="34" charset="0"/>
              <a:buNone/>
              <a:defRPr sz="12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5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9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5pPr>
            <a:lvl6pPr marL="17145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9pPr>
          </a:lstStyle>
          <a:p>
            <a:pPr>
              <a:lnSpc>
                <a:spcPct val="100000"/>
              </a:lnSpc>
              <a:spcBef>
                <a:spcPts val="1700"/>
              </a:spcBef>
            </a:pPr>
            <a:r>
              <a:rPr lang="en-US" sz="1300" dirty="0"/>
              <a:t>Picky Eaters recipe keeper is a web app to support quick meal planning.</a:t>
            </a:r>
          </a:p>
          <a:p>
            <a:pPr>
              <a:lnSpc>
                <a:spcPct val="100000"/>
              </a:lnSpc>
              <a:spcBef>
                <a:spcPts val="1700"/>
              </a:spcBef>
            </a:pPr>
            <a:r>
              <a:rPr lang="en-US" sz="1300" dirty="0"/>
              <a:t>It’s for anyone cooking for a family on a regular basis.</a:t>
            </a:r>
          </a:p>
          <a:p>
            <a:pPr>
              <a:lnSpc>
                <a:spcPct val="100000"/>
              </a:lnSpc>
              <a:spcBef>
                <a:spcPts val="1700"/>
              </a:spcBef>
            </a:pPr>
            <a:r>
              <a:rPr lang="en-US" sz="1300" dirty="0"/>
              <a:t>Picky Eaters keeps just enough info to help decide </a:t>
            </a:r>
            <a:r>
              <a:rPr lang="en-US" sz="1300" i="1" dirty="0"/>
              <a:t>what</a:t>
            </a:r>
            <a:r>
              <a:rPr lang="en-US" sz="1300" dirty="0"/>
              <a:t> to make.</a:t>
            </a:r>
          </a:p>
        </p:txBody>
      </p:sp>
    </p:spTree>
    <p:extLst>
      <p:ext uri="{BB962C8B-B14F-4D97-AF65-F5344CB8AC3E}">
        <p14:creationId xmlns:p14="http://schemas.microsoft.com/office/powerpoint/2010/main" val="2017250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D393A057-0F9E-71C8-8575-044285A2DB61}"/>
              </a:ext>
            </a:extLst>
          </p:cNvPr>
          <p:cNvSpPr/>
          <p:nvPr/>
        </p:nvSpPr>
        <p:spPr>
          <a:xfrm>
            <a:off x="4058540" y="1303019"/>
            <a:ext cx="4559042" cy="4313809"/>
          </a:xfrm>
          <a:prstGeom prst="rect">
            <a:avLst/>
          </a:prstGeom>
          <a:solidFill>
            <a:srgbClr val="FFFA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A screenshot of a recipe&#10;&#10;Description automatically generated">
            <a:extLst>
              <a:ext uri="{FF2B5EF4-FFF2-40B4-BE49-F238E27FC236}">
                <a16:creationId xmlns:a16="http://schemas.microsoft.com/office/drawing/2014/main" id="{7B38EE6E-10E4-C3DE-9B78-F3CA9E3DF45D}"/>
              </a:ext>
            </a:extLst>
          </p:cNvPr>
          <p:cNvPicPr>
            <a:picLocks noChangeAspect="1"/>
          </p:cNvPicPr>
          <p:nvPr/>
        </p:nvPicPr>
        <p:blipFill>
          <a:blip r:embed="rId3">
            <a:alphaModFix/>
          </a:blip>
          <a:stretch>
            <a:fillRect/>
          </a:stretch>
        </p:blipFill>
        <p:spPr>
          <a:xfrm>
            <a:off x="4178205" y="1510973"/>
            <a:ext cx="4025900" cy="4038600"/>
          </a:xfrm>
          <a:prstGeom prst="rect">
            <a:avLst/>
          </a:prstGeom>
        </p:spPr>
      </p:pic>
      <p:pic>
        <p:nvPicPr>
          <p:cNvPr id="8" name="Picture 7" descr="A screenshot of a recipe&#10;&#10;Description automatically generated">
            <a:extLst>
              <a:ext uri="{FF2B5EF4-FFF2-40B4-BE49-F238E27FC236}">
                <a16:creationId xmlns:a16="http://schemas.microsoft.com/office/drawing/2014/main" id="{4C743A17-2876-BC67-B8A7-303A7F711A37}"/>
              </a:ext>
            </a:extLst>
          </p:cNvPr>
          <p:cNvPicPr>
            <a:picLocks noChangeAspect="1"/>
          </p:cNvPicPr>
          <p:nvPr/>
        </p:nvPicPr>
        <p:blipFill rotWithShape="1">
          <a:blip r:embed="rId4"/>
          <a:srcRect t="47951"/>
          <a:stretch/>
        </p:blipFill>
        <p:spPr>
          <a:xfrm>
            <a:off x="4065156" y="1475015"/>
            <a:ext cx="4559041" cy="1491746"/>
          </a:xfrm>
          <a:prstGeom prst="rect">
            <a:avLst/>
          </a:prstGeom>
        </p:spPr>
      </p:pic>
      <p:pic>
        <p:nvPicPr>
          <p:cNvPr id="2" name="Picture 1" descr="A screenshot of a recipe&#10;&#10;Description automatically generated">
            <a:extLst>
              <a:ext uri="{FF2B5EF4-FFF2-40B4-BE49-F238E27FC236}">
                <a16:creationId xmlns:a16="http://schemas.microsoft.com/office/drawing/2014/main" id="{919E1140-7559-7948-16B6-CEB3264B7BCC}"/>
              </a:ext>
            </a:extLst>
          </p:cNvPr>
          <p:cNvPicPr>
            <a:picLocks noChangeAspect="1"/>
          </p:cNvPicPr>
          <p:nvPr/>
        </p:nvPicPr>
        <p:blipFill rotWithShape="1">
          <a:blip r:embed="rId5"/>
          <a:srcRect l="2108" t="25233" r="1920" b="6105"/>
          <a:stretch/>
        </p:blipFill>
        <p:spPr>
          <a:xfrm>
            <a:off x="4141189" y="1497911"/>
            <a:ext cx="4406974" cy="3924024"/>
          </a:xfrm>
          <a:prstGeom prst="rect">
            <a:avLst/>
          </a:prstGeom>
          <a:ln>
            <a:noFill/>
          </a:ln>
        </p:spPr>
      </p:pic>
      <p:pic>
        <p:nvPicPr>
          <p:cNvPr id="6" name="Picture 5" descr="A screenshot of a recipe&#10;&#10;Description automatically generated">
            <a:extLst>
              <a:ext uri="{FF2B5EF4-FFF2-40B4-BE49-F238E27FC236}">
                <a16:creationId xmlns:a16="http://schemas.microsoft.com/office/drawing/2014/main" id="{802CE931-47C4-E5FF-DDB8-C68DAEC0EB0C}"/>
              </a:ext>
            </a:extLst>
          </p:cNvPr>
          <p:cNvPicPr>
            <a:picLocks noChangeAspect="1"/>
          </p:cNvPicPr>
          <p:nvPr/>
        </p:nvPicPr>
        <p:blipFill rotWithShape="1">
          <a:blip r:embed="rId6"/>
          <a:srcRect l="2188" t="29115" b="835"/>
          <a:stretch/>
        </p:blipFill>
        <p:spPr>
          <a:xfrm>
            <a:off x="4174112" y="1495626"/>
            <a:ext cx="4327897" cy="3315226"/>
          </a:xfrm>
          <a:prstGeom prst="rect">
            <a:avLst/>
          </a:prstGeom>
        </p:spPr>
      </p:pic>
      <p:pic>
        <p:nvPicPr>
          <p:cNvPr id="12" name="Picture 11" descr="A screenshot of a recipe&#10;&#10;Description automatically generated">
            <a:extLst>
              <a:ext uri="{FF2B5EF4-FFF2-40B4-BE49-F238E27FC236}">
                <a16:creationId xmlns:a16="http://schemas.microsoft.com/office/drawing/2014/main" id="{F899AA47-3514-2DD2-A489-799ACBC77174}"/>
              </a:ext>
            </a:extLst>
          </p:cNvPr>
          <p:cNvPicPr>
            <a:picLocks noChangeAspect="1"/>
          </p:cNvPicPr>
          <p:nvPr/>
        </p:nvPicPr>
        <p:blipFill rotWithShape="1">
          <a:blip r:embed="rId7"/>
          <a:srcRect t="25259"/>
          <a:stretch/>
        </p:blipFill>
        <p:spPr>
          <a:xfrm>
            <a:off x="4141189" y="1492994"/>
            <a:ext cx="4470849" cy="4123835"/>
          </a:xfrm>
          <a:prstGeom prst="rect">
            <a:avLst/>
          </a:prstGeom>
        </p:spPr>
      </p:pic>
      <p:pic>
        <p:nvPicPr>
          <p:cNvPr id="13" name="Picture 12" descr="A screenshot of a recipe&#10;&#10;Description automatically generated">
            <a:extLst>
              <a:ext uri="{FF2B5EF4-FFF2-40B4-BE49-F238E27FC236}">
                <a16:creationId xmlns:a16="http://schemas.microsoft.com/office/drawing/2014/main" id="{C29A58F2-0DD9-B709-27F5-4DF51564EF47}"/>
              </a:ext>
            </a:extLst>
          </p:cNvPr>
          <p:cNvPicPr>
            <a:picLocks noChangeAspect="1"/>
          </p:cNvPicPr>
          <p:nvPr/>
        </p:nvPicPr>
        <p:blipFill rotWithShape="1">
          <a:blip r:embed="rId5"/>
          <a:srcRect t="1123" r="861" b="74767"/>
          <a:stretch/>
        </p:blipFill>
        <p:spPr>
          <a:xfrm>
            <a:off x="4065155" y="115102"/>
            <a:ext cx="4552428" cy="1377892"/>
          </a:xfrm>
          <a:prstGeom prst="rect">
            <a:avLst/>
          </a:prstGeom>
          <a:ln>
            <a:noFill/>
          </a:ln>
        </p:spPr>
      </p:pic>
      <p:sp>
        <p:nvSpPr>
          <p:cNvPr id="10" name="Title 1">
            <a:extLst>
              <a:ext uri="{FF2B5EF4-FFF2-40B4-BE49-F238E27FC236}">
                <a16:creationId xmlns:a16="http://schemas.microsoft.com/office/drawing/2014/main" id="{9A7DB5C3-5841-7A73-AC53-F8C9DD6397E5}"/>
              </a:ext>
            </a:extLst>
          </p:cNvPr>
          <p:cNvSpPr>
            <a:spLocks noGrp="1"/>
          </p:cNvSpPr>
          <p:nvPr>
            <p:ph type="title"/>
          </p:nvPr>
        </p:nvSpPr>
        <p:spPr>
          <a:xfrm>
            <a:off x="629841" y="381000"/>
            <a:ext cx="2949178" cy="1333500"/>
          </a:xfrm>
        </p:spPr>
        <p:txBody>
          <a:bodyPr/>
          <a:lstStyle/>
          <a:p>
            <a:pPr algn="ctr"/>
            <a:r>
              <a:rPr lang="en-US" b="1" dirty="0"/>
              <a:t>Key Features</a:t>
            </a:r>
            <a:endParaRPr lang="en-US" sz="1100" b="1" dirty="0"/>
          </a:p>
        </p:txBody>
      </p:sp>
      <p:sp>
        <p:nvSpPr>
          <p:cNvPr id="11" name="Text Placeholder 3">
            <a:extLst>
              <a:ext uri="{FF2B5EF4-FFF2-40B4-BE49-F238E27FC236}">
                <a16:creationId xmlns:a16="http://schemas.microsoft.com/office/drawing/2014/main" id="{A51948E1-0D1D-89A2-09BE-5B26DB935969}"/>
              </a:ext>
            </a:extLst>
          </p:cNvPr>
          <p:cNvSpPr txBox="1">
            <a:spLocks/>
          </p:cNvSpPr>
          <p:nvPr/>
        </p:nvSpPr>
        <p:spPr>
          <a:xfrm>
            <a:off x="629840" y="1969161"/>
            <a:ext cx="2949179" cy="2214039"/>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 typeface="Arial" panose="020B0604020202020204" pitchFamily="34" charset="0"/>
              <a:buNone/>
              <a:defRPr sz="12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5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9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5pPr>
            <a:lvl6pPr marL="17145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9pPr>
          </a:lstStyle>
          <a:p>
            <a:pPr marL="228600" indent="-228600">
              <a:lnSpc>
                <a:spcPct val="100000"/>
              </a:lnSpc>
              <a:spcBef>
                <a:spcPts val="1700"/>
              </a:spcBef>
              <a:buFont typeface="+mj-lt"/>
              <a:buAutoNum type="arabicPeriod"/>
            </a:pPr>
            <a:r>
              <a:rPr lang="en-US" sz="1300" dirty="0"/>
              <a:t>Recipe likes for choice based on who likes what</a:t>
            </a:r>
          </a:p>
          <a:p>
            <a:pPr marL="228600" indent="-228600">
              <a:lnSpc>
                <a:spcPct val="100000"/>
              </a:lnSpc>
              <a:spcBef>
                <a:spcPts val="1700"/>
              </a:spcBef>
              <a:buFont typeface="+mj-lt"/>
              <a:buAutoNum type="arabicPeriod"/>
            </a:pPr>
            <a:r>
              <a:rPr lang="en-US" sz="1300" dirty="0"/>
              <a:t>Recipe ingredients for choice based on what you have</a:t>
            </a:r>
          </a:p>
          <a:p>
            <a:pPr marL="228600" indent="-228600">
              <a:lnSpc>
                <a:spcPct val="100000"/>
              </a:lnSpc>
              <a:spcBef>
                <a:spcPts val="1700"/>
              </a:spcBef>
              <a:buFont typeface="+mj-lt"/>
              <a:buAutoNum type="arabicPeriod"/>
            </a:pPr>
            <a:r>
              <a:rPr lang="en-US" sz="1300" dirty="0"/>
              <a:t>Surprise me!</a:t>
            </a:r>
          </a:p>
        </p:txBody>
      </p:sp>
      <p:pic>
        <p:nvPicPr>
          <p:cNvPr id="16" name="Picture 15" descr="A pink and blue text&#10;&#10;Description automatically generated">
            <a:extLst>
              <a:ext uri="{FF2B5EF4-FFF2-40B4-BE49-F238E27FC236}">
                <a16:creationId xmlns:a16="http://schemas.microsoft.com/office/drawing/2014/main" id="{7E1A5726-000D-A9A2-4376-4FCCEE162E50}"/>
              </a:ext>
            </a:extLst>
          </p:cNvPr>
          <p:cNvPicPr>
            <a:picLocks noChangeAspect="1"/>
          </p:cNvPicPr>
          <p:nvPr/>
        </p:nvPicPr>
        <p:blipFill rotWithShape="1">
          <a:blip r:embed="rId8"/>
          <a:srcRect l="70298" t="69968" r="6440" b="17130"/>
          <a:stretch/>
        </p:blipFill>
        <p:spPr>
          <a:xfrm>
            <a:off x="7121248" y="1111301"/>
            <a:ext cx="1016277" cy="186800"/>
          </a:xfrm>
          <a:prstGeom prst="rect">
            <a:avLst/>
          </a:prstGeom>
        </p:spPr>
      </p:pic>
    </p:spTree>
    <p:extLst>
      <p:ext uri="{BB962C8B-B14F-4D97-AF65-F5344CB8AC3E}">
        <p14:creationId xmlns:p14="http://schemas.microsoft.com/office/powerpoint/2010/main" val="3832136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xit" presetSubtype="0" fill="hold" nodeType="withEffect">
                                  <p:stCondLst>
                                    <p:cond delay="0"/>
                                  </p:stCondLst>
                                  <p:childTnLst>
                                    <p:set>
                                      <p:cBhvr>
                                        <p:cTn id="32" dur="1" fill="hold">
                                          <p:stCondLst>
                                            <p:cond delay="0"/>
                                          </p:stCondLst>
                                        </p:cTn>
                                        <p:tgtEl>
                                          <p:spTgt spid="8"/>
                                        </p:tgtEl>
                                        <p:attrNameLst>
                                          <p:attrName>style.visibility</p:attrName>
                                        </p:attrNameLst>
                                      </p:cBhvr>
                                      <p:to>
                                        <p:strVal val="hidden"/>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diagram of a recipe&#10;&#10;Description automatically generated">
            <a:extLst>
              <a:ext uri="{FF2B5EF4-FFF2-40B4-BE49-F238E27FC236}">
                <a16:creationId xmlns:a16="http://schemas.microsoft.com/office/drawing/2014/main" id="{4906C628-3488-62A7-6CF2-0AA269C4ABB5}"/>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25000"/>
                    </a14:imgEffect>
                    <a14:imgEffect>
                      <a14:brightnessContrast contrast="20000"/>
                    </a14:imgEffect>
                  </a14:imgLayer>
                </a14:imgProps>
              </a:ext>
            </a:extLst>
          </a:blip>
          <a:srcRect l="4711" t="3535" r="3936" b="8529"/>
          <a:stretch/>
        </p:blipFill>
        <p:spPr>
          <a:xfrm>
            <a:off x="3579019" y="1254300"/>
            <a:ext cx="5204998" cy="2361600"/>
          </a:xfrm>
          <a:prstGeom prst="rect">
            <a:avLst/>
          </a:prstGeom>
        </p:spPr>
      </p:pic>
      <p:sp>
        <p:nvSpPr>
          <p:cNvPr id="10" name="Title 1">
            <a:extLst>
              <a:ext uri="{FF2B5EF4-FFF2-40B4-BE49-F238E27FC236}">
                <a16:creationId xmlns:a16="http://schemas.microsoft.com/office/drawing/2014/main" id="{9A7DB5C3-5841-7A73-AC53-F8C9DD6397E5}"/>
              </a:ext>
            </a:extLst>
          </p:cNvPr>
          <p:cNvSpPr>
            <a:spLocks noGrp="1"/>
          </p:cNvSpPr>
          <p:nvPr>
            <p:ph type="title"/>
          </p:nvPr>
        </p:nvSpPr>
        <p:spPr>
          <a:xfrm>
            <a:off x="629841" y="381000"/>
            <a:ext cx="2949178" cy="1333500"/>
          </a:xfrm>
        </p:spPr>
        <p:txBody>
          <a:bodyPr/>
          <a:lstStyle/>
          <a:p>
            <a:pPr algn="ctr"/>
            <a:r>
              <a:rPr lang="en-US" b="1" dirty="0"/>
              <a:t>Database Tables</a:t>
            </a:r>
          </a:p>
        </p:txBody>
      </p:sp>
      <p:sp>
        <p:nvSpPr>
          <p:cNvPr id="14" name="Text Placeholder 3">
            <a:extLst>
              <a:ext uri="{FF2B5EF4-FFF2-40B4-BE49-F238E27FC236}">
                <a16:creationId xmlns:a16="http://schemas.microsoft.com/office/drawing/2014/main" id="{775F4131-3909-408A-BAF0-029F90501C4B}"/>
              </a:ext>
            </a:extLst>
          </p:cNvPr>
          <p:cNvSpPr txBox="1">
            <a:spLocks/>
          </p:cNvSpPr>
          <p:nvPr/>
        </p:nvSpPr>
        <p:spPr>
          <a:xfrm>
            <a:off x="629840" y="1969161"/>
            <a:ext cx="2949179" cy="2214039"/>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 typeface="Arial" panose="020B0604020202020204" pitchFamily="34" charset="0"/>
              <a:buNone/>
              <a:defRPr sz="12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5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9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5pPr>
            <a:lvl6pPr marL="17145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9pPr>
          </a:lstStyle>
          <a:p>
            <a:pPr marL="228600" indent="-228600">
              <a:lnSpc>
                <a:spcPct val="100000"/>
              </a:lnSpc>
              <a:spcBef>
                <a:spcPts val="1700"/>
              </a:spcBef>
              <a:buFont typeface="+mj-lt"/>
              <a:buAutoNum type="arabicPeriod"/>
            </a:pPr>
            <a:r>
              <a:rPr lang="en-US" sz="1300" dirty="0"/>
              <a:t>recipes, ingredients, and members</a:t>
            </a:r>
          </a:p>
          <a:p>
            <a:pPr marL="228600" indent="-228600">
              <a:lnSpc>
                <a:spcPct val="100000"/>
              </a:lnSpc>
              <a:spcBef>
                <a:spcPts val="1700"/>
              </a:spcBef>
              <a:buFont typeface="+mj-lt"/>
              <a:buAutoNum type="arabicPeriod"/>
            </a:pPr>
            <a:r>
              <a:rPr lang="en-US" sz="1300" dirty="0" err="1"/>
              <a:t>recipe_ingredients</a:t>
            </a:r>
            <a:endParaRPr lang="en-US" sz="1300" dirty="0"/>
          </a:p>
          <a:p>
            <a:pPr marL="228600" indent="-228600">
              <a:lnSpc>
                <a:spcPct val="100000"/>
              </a:lnSpc>
              <a:spcBef>
                <a:spcPts val="1700"/>
              </a:spcBef>
              <a:buFont typeface="+mj-lt"/>
              <a:buAutoNum type="arabicPeriod"/>
            </a:pPr>
            <a:r>
              <a:rPr lang="en-US" sz="1300" dirty="0" err="1"/>
              <a:t>recipe_likes</a:t>
            </a:r>
            <a:endParaRPr lang="en-US" sz="1300" dirty="0"/>
          </a:p>
        </p:txBody>
      </p:sp>
      <p:grpSp>
        <p:nvGrpSpPr>
          <p:cNvPr id="28" name="Group 27">
            <a:extLst>
              <a:ext uri="{FF2B5EF4-FFF2-40B4-BE49-F238E27FC236}">
                <a16:creationId xmlns:a16="http://schemas.microsoft.com/office/drawing/2014/main" id="{F8163FCB-81B6-B09E-AA46-8FF67CBD7DDD}"/>
              </a:ext>
            </a:extLst>
          </p:cNvPr>
          <p:cNvGrpSpPr/>
          <p:nvPr/>
        </p:nvGrpSpPr>
        <p:grpSpPr>
          <a:xfrm>
            <a:off x="489600" y="1396800"/>
            <a:ext cx="6292800" cy="1576800"/>
            <a:chOff x="489600" y="1396800"/>
            <a:chExt cx="6292800" cy="1576800"/>
          </a:xfrm>
        </p:grpSpPr>
        <p:grpSp>
          <p:nvGrpSpPr>
            <p:cNvPr id="25" name="Group 24">
              <a:extLst>
                <a:ext uri="{FF2B5EF4-FFF2-40B4-BE49-F238E27FC236}">
                  <a16:creationId xmlns:a16="http://schemas.microsoft.com/office/drawing/2014/main" id="{182AE1FA-E21B-76C7-2D64-CEFC9B91FEF3}"/>
                </a:ext>
              </a:extLst>
            </p:cNvPr>
            <p:cNvGrpSpPr/>
            <p:nvPr/>
          </p:nvGrpSpPr>
          <p:grpSpPr>
            <a:xfrm>
              <a:off x="489600" y="1396800"/>
              <a:ext cx="6292800" cy="1569600"/>
              <a:chOff x="489600" y="1396800"/>
              <a:chExt cx="6292800" cy="1569600"/>
            </a:xfrm>
          </p:grpSpPr>
          <p:sp>
            <p:nvSpPr>
              <p:cNvPr id="17" name="5-Point Star 16">
                <a:extLst>
                  <a:ext uri="{FF2B5EF4-FFF2-40B4-BE49-F238E27FC236}">
                    <a16:creationId xmlns:a16="http://schemas.microsoft.com/office/drawing/2014/main" id="{6C088DAA-EDE1-7EB8-6567-6FB12797FCF5}"/>
                  </a:ext>
                </a:extLst>
              </p:cNvPr>
              <p:cNvSpPr/>
              <p:nvPr/>
            </p:nvSpPr>
            <p:spPr>
              <a:xfrm>
                <a:off x="489600" y="2023200"/>
                <a:ext cx="165600" cy="165600"/>
              </a:xfrm>
              <a:prstGeom prst="star5">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5-Point Star 17">
                <a:extLst>
                  <a:ext uri="{FF2B5EF4-FFF2-40B4-BE49-F238E27FC236}">
                    <a16:creationId xmlns:a16="http://schemas.microsoft.com/office/drawing/2014/main" id="{BF43C8A0-0BC7-838A-0A03-AF2AC00EEE8D}"/>
                  </a:ext>
                </a:extLst>
              </p:cNvPr>
              <p:cNvSpPr/>
              <p:nvPr/>
            </p:nvSpPr>
            <p:spPr>
              <a:xfrm>
                <a:off x="6271200" y="1396800"/>
                <a:ext cx="165600" cy="165600"/>
              </a:xfrm>
              <a:prstGeom prst="star5">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5-Point Star 18">
                <a:extLst>
                  <a:ext uri="{FF2B5EF4-FFF2-40B4-BE49-F238E27FC236}">
                    <a16:creationId xmlns:a16="http://schemas.microsoft.com/office/drawing/2014/main" id="{2B924E52-DE3F-3DD4-FF4A-4B2348C10F34}"/>
                  </a:ext>
                </a:extLst>
              </p:cNvPr>
              <p:cNvSpPr/>
              <p:nvPr/>
            </p:nvSpPr>
            <p:spPr>
              <a:xfrm>
                <a:off x="6616800" y="2800800"/>
                <a:ext cx="165600" cy="165600"/>
              </a:xfrm>
              <a:prstGeom prst="star5">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5-Point Star 19">
              <a:extLst>
                <a:ext uri="{FF2B5EF4-FFF2-40B4-BE49-F238E27FC236}">
                  <a16:creationId xmlns:a16="http://schemas.microsoft.com/office/drawing/2014/main" id="{16B3DCDB-1CF6-D31F-AB2C-B8096355FF9D}"/>
                </a:ext>
              </a:extLst>
            </p:cNvPr>
            <p:cNvSpPr/>
            <p:nvPr/>
          </p:nvSpPr>
          <p:spPr>
            <a:xfrm>
              <a:off x="4960800" y="2808000"/>
              <a:ext cx="165600" cy="165600"/>
            </a:xfrm>
            <a:prstGeom prst="star5">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 name="Group 25">
            <a:extLst>
              <a:ext uri="{FF2B5EF4-FFF2-40B4-BE49-F238E27FC236}">
                <a16:creationId xmlns:a16="http://schemas.microsoft.com/office/drawing/2014/main" id="{5DB23390-6553-A50B-CAEB-D2FA873CB6A6}"/>
              </a:ext>
            </a:extLst>
          </p:cNvPr>
          <p:cNvGrpSpPr/>
          <p:nvPr/>
        </p:nvGrpSpPr>
        <p:grpSpPr>
          <a:xfrm>
            <a:off x="489600" y="1653300"/>
            <a:ext cx="4410618" cy="945900"/>
            <a:chOff x="489600" y="1653300"/>
            <a:chExt cx="4410618" cy="945900"/>
          </a:xfrm>
        </p:grpSpPr>
        <p:sp>
          <p:nvSpPr>
            <p:cNvPr id="21" name="5-Point Star 20">
              <a:extLst>
                <a:ext uri="{FF2B5EF4-FFF2-40B4-BE49-F238E27FC236}">
                  <a16:creationId xmlns:a16="http://schemas.microsoft.com/office/drawing/2014/main" id="{A2E56A96-86C0-1587-0DA3-77EEF485F23B}"/>
                </a:ext>
              </a:extLst>
            </p:cNvPr>
            <p:cNvSpPr/>
            <p:nvPr/>
          </p:nvSpPr>
          <p:spPr>
            <a:xfrm>
              <a:off x="489600" y="2433600"/>
              <a:ext cx="165600" cy="165600"/>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5-Point Star 22">
              <a:extLst>
                <a:ext uri="{FF2B5EF4-FFF2-40B4-BE49-F238E27FC236}">
                  <a16:creationId xmlns:a16="http://schemas.microsoft.com/office/drawing/2014/main" id="{1D04458A-F383-60D7-5F30-8A9C8B34EF15}"/>
                </a:ext>
              </a:extLst>
            </p:cNvPr>
            <p:cNvSpPr/>
            <p:nvPr/>
          </p:nvSpPr>
          <p:spPr>
            <a:xfrm>
              <a:off x="4734618" y="1653300"/>
              <a:ext cx="165600" cy="165600"/>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C0B076FB-8D79-3078-1C6E-6F53FC27C598}"/>
              </a:ext>
            </a:extLst>
          </p:cNvPr>
          <p:cNvGrpSpPr/>
          <p:nvPr/>
        </p:nvGrpSpPr>
        <p:grpSpPr>
          <a:xfrm>
            <a:off x="489600" y="1631700"/>
            <a:ext cx="7783200" cy="1385100"/>
            <a:chOff x="489600" y="1631700"/>
            <a:chExt cx="7783200" cy="1385100"/>
          </a:xfrm>
        </p:grpSpPr>
        <p:sp>
          <p:nvSpPr>
            <p:cNvPr id="22" name="5-Point Star 21">
              <a:extLst>
                <a:ext uri="{FF2B5EF4-FFF2-40B4-BE49-F238E27FC236}">
                  <a16:creationId xmlns:a16="http://schemas.microsoft.com/office/drawing/2014/main" id="{CFDE875D-5F95-EA9F-D5FB-FA781C018A31}"/>
                </a:ext>
              </a:extLst>
            </p:cNvPr>
            <p:cNvSpPr/>
            <p:nvPr/>
          </p:nvSpPr>
          <p:spPr>
            <a:xfrm>
              <a:off x="489600" y="2851200"/>
              <a:ext cx="165600" cy="165600"/>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5-Point Star 23">
              <a:extLst>
                <a:ext uri="{FF2B5EF4-FFF2-40B4-BE49-F238E27FC236}">
                  <a16:creationId xmlns:a16="http://schemas.microsoft.com/office/drawing/2014/main" id="{CFE2B453-E887-D3A9-92AC-B49D4A8BAEDE}"/>
                </a:ext>
              </a:extLst>
            </p:cNvPr>
            <p:cNvSpPr/>
            <p:nvPr/>
          </p:nvSpPr>
          <p:spPr>
            <a:xfrm>
              <a:off x="8107200" y="1631700"/>
              <a:ext cx="165600" cy="165600"/>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83853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2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55A835BA-B4CB-D1FB-21E0-3C18098C4F23}"/>
              </a:ext>
            </a:extLst>
          </p:cNvPr>
          <p:cNvPicPr>
            <a:picLocks noChangeAspect="1"/>
          </p:cNvPicPr>
          <p:nvPr/>
        </p:nvPicPr>
        <p:blipFill>
          <a:blip r:embed="rId3"/>
          <a:stretch>
            <a:fillRect/>
          </a:stretch>
        </p:blipFill>
        <p:spPr>
          <a:xfrm>
            <a:off x="3904688" y="4673726"/>
            <a:ext cx="4488782" cy="419100"/>
          </a:xfrm>
          <a:prstGeom prst="rect">
            <a:avLst/>
          </a:prstGeom>
        </p:spPr>
      </p:pic>
      <p:pic>
        <p:nvPicPr>
          <p:cNvPr id="27" name="Picture 26" descr="A screenshot of a recipe form&#10;&#10;Description automatically generated">
            <a:extLst>
              <a:ext uri="{FF2B5EF4-FFF2-40B4-BE49-F238E27FC236}">
                <a16:creationId xmlns:a16="http://schemas.microsoft.com/office/drawing/2014/main" id="{7B849694-2EE0-9549-62A2-6B540CCEB4B6}"/>
              </a:ext>
            </a:extLst>
          </p:cNvPr>
          <p:cNvPicPr>
            <a:picLocks noChangeAspect="1"/>
          </p:cNvPicPr>
          <p:nvPr/>
        </p:nvPicPr>
        <p:blipFill rotWithShape="1">
          <a:blip r:embed="rId4"/>
          <a:srcRect t="22042"/>
          <a:stretch/>
        </p:blipFill>
        <p:spPr>
          <a:xfrm>
            <a:off x="3904689" y="460222"/>
            <a:ext cx="4488781" cy="4233409"/>
          </a:xfrm>
          <a:prstGeom prst="rect">
            <a:avLst/>
          </a:prstGeom>
        </p:spPr>
      </p:pic>
      <p:sp>
        <p:nvSpPr>
          <p:cNvPr id="10" name="Title 1">
            <a:extLst>
              <a:ext uri="{FF2B5EF4-FFF2-40B4-BE49-F238E27FC236}">
                <a16:creationId xmlns:a16="http://schemas.microsoft.com/office/drawing/2014/main" id="{9A7DB5C3-5841-7A73-AC53-F8C9DD6397E5}"/>
              </a:ext>
            </a:extLst>
          </p:cNvPr>
          <p:cNvSpPr>
            <a:spLocks noGrp="1"/>
          </p:cNvSpPr>
          <p:nvPr>
            <p:ph type="title"/>
          </p:nvPr>
        </p:nvSpPr>
        <p:spPr>
          <a:xfrm>
            <a:off x="629841" y="381000"/>
            <a:ext cx="2949178" cy="1333500"/>
          </a:xfrm>
        </p:spPr>
        <p:txBody>
          <a:bodyPr/>
          <a:lstStyle/>
          <a:p>
            <a:pPr algn="ctr"/>
            <a:r>
              <a:rPr lang="en-US" b="1" dirty="0"/>
              <a:t>Challenges</a:t>
            </a:r>
          </a:p>
        </p:txBody>
      </p:sp>
      <p:sp>
        <p:nvSpPr>
          <p:cNvPr id="11" name="Text Placeholder 3">
            <a:extLst>
              <a:ext uri="{FF2B5EF4-FFF2-40B4-BE49-F238E27FC236}">
                <a16:creationId xmlns:a16="http://schemas.microsoft.com/office/drawing/2014/main" id="{A51948E1-0D1D-89A2-09BE-5B26DB935969}"/>
              </a:ext>
            </a:extLst>
          </p:cNvPr>
          <p:cNvSpPr txBox="1">
            <a:spLocks/>
          </p:cNvSpPr>
          <p:nvPr/>
        </p:nvSpPr>
        <p:spPr>
          <a:xfrm>
            <a:off x="629840" y="1969161"/>
            <a:ext cx="2949179" cy="2214039"/>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 typeface="Arial" panose="020B0604020202020204" pitchFamily="34" charset="0"/>
              <a:buNone/>
              <a:defRPr sz="12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5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9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5pPr>
            <a:lvl6pPr marL="17145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750" kern="1200">
                <a:solidFill>
                  <a:schemeClr val="tx1"/>
                </a:solidFill>
                <a:latin typeface="+mn-lt"/>
                <a:ea typeface="+mn-ea"/>
                <a:cs typeface="+mn-cs"/>
              </a:defRPr>
            </a:lvl9pPr>
          </a:lstStyle>
          <a:p>
            <a:pPr marL="228600" indent="-228600">
              <a:lnSpc>
                <a:spcPct val="100000"/>
              </a:lnSpc>
              <a:spcBef>
                <a:spcPts val="1700"/>
              </a:spcBef>
              <a:buFont typeface="+mj-lt"/>
              <a:buAutoNum type="arabicPeriod"/>
            </a:pPr>
            <a:r>
              <a:rPr lang="en-US" sz="1300" dirty="0"/>
              <a:t>Managing multiple text and checkbox input data for updating objects</a:t>
            </a:r>
          </a:p>
          <a:p>
            <a:pPr marL="228600" indent="-228600">
              <a:lnSpc>
                <a:spcPct val="100000"/>
              </a:lnSpc>
              <a:spcBef>
                <a:spcPts val="1700"/>
              </a:spcBef>
              <a:buFont typeface="+mj-lt"/>
              <a:buAutoNum type="arabicPeriod"/>
            </a:pPr>
            <a:r>
              <a:rPr lang="en-US" sz="1300" dirty="0"/>
              <a:t>Juggling valid and invalid data</a:t>
            </a:r>
            <a:br>
              <a:rPr lang="en-US" sz="1300" dirty="0"/>
            </a:br>
            <a:r>
              <a:rPr lang="en-US" sz="1300" dirty="0"/>
              <a:t>for creating and updating objects</a:t>
            </a:r>
          </a:p>
          <a:p>
            <a:pPr marL="228600" indent="-228600">
              <a:lnSpc>
                <a:spcPct val="100000"/>
              </a:lnSpc>
              <a:spcBef>
                <a:spcPts val="1700"/>
              </a:spcBef>
              <a:buFont typeface="+mj-lt"/>
              <a:buAutoNum type="arabicPeriod"/>
            </a:pPr>
            <a:r>
              <a:rPr lang="en-US" sz="1300" dirty="0"/>
              <a:t>Retaining requested page location</a:t>
            </a:r>
            <a:br>
              <a:rPr lang="en-US" sz="1300" dirty="0"/>
            </a:br>
            <a:r>
              <a:rPr lang="en-US" sz="1300" dirty="0"/>
              <a:t>for redirection after login</a:t>
            </a:r>
          </a:p>
        </p:txBody>
      </p:sp>
      <p:sp>
        <p:nvSpPr>
          <p:cNvPr id="7" name="Rounded Rectangle 6">
            <a:extLst>
              <a:ext uri="{FF2B5EF4-FFF2-40B4-BE49-F238E27FC236}">
                <a16:creationId xmlns:a16="http://schemas.microsoft.com/office/drawing/2014/main" id="{DC3016EE-4027-ECBA-B98F-4B2C6A1E9786}"/>
              </a:ext>
            </a:extLst>
          </p:cNvPr>
          <p:cNvSpPr/>
          <p:nvPr/>
        </p:nvSpPr>
        <p:spPr>
          <a:xfrm>
            <a:off x="6068487" y="1161530"/>
            <a:ext cx="2018501" cy="267854"/>
          </a:xfrm>
          <a:prstGeom prst="roundRect">
            <a:avLst/>
          </a:prstGeom>
          <a:solidFill>
            <a:srgbClr val="00B050"/>
          </a:solidFill>
          <a:ln w="28575">
            <a:noFill/>
          </a:ln>
          <a:effectLst>
            <a:glow rad="228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b="1" dirty="0">
              <a:solidFill>
                <a:srgbClr val="00B050"/>
              </a:solidFill>
              <a:latin typeface="Courier New" panose="02070309020205020404" pitchFamily="49" charset="0"/>
              <a:ea typeface="Tahoma" panose="020B0604030504040204" pitchFamily="34" charset="0"/>
              <a:cs typeface="Courier New" panose="02070309020205020404" pitchFamily="49" charset="0"/>
            </a:endParaRPr>
          </a:p>
        </p:txBody>
      </p:sp>
      <p:sp>
        <p:nvSpPr>
          <p:cNvPr id="8" name="TextBox 7">
            <a:extLst>
              <a:ext uri="{FF2B5EF4-FFF2-40B4-BE49-F238E27FC236}">
                <a16:creationId xmlns:a16="http://schemas.microsoft.com/office/drawing/2014/main" id="{006FA493-9B52-BE5C-B763-93C949DA4FF4}"/>
              </a:ext>
            </a:extLst>
          </p:cNvPr>
          <p:cNvSpPr txBox="1"/>
          <p:nvPr/>
        </p:nvSpPr>
        <p:spPr>
          <a:xfrm>
            <a:off x="6055124" y="1187437"/>
            <a:ext cx="2018501" cy="246221"/>
          </a:xfrm>
          <a:prstGeom prst="rect">
            <a:avLst/>
          </a:prstGeom>
          <a:noFill/>
        </p:spPr>
        <p:txBody>
          <a:bodyPr wrap="none" rtlCol="0">
            <a:spAutoFit/>
          </a:bodyPr>
          <a:lstStyle/>
          <a:p>
            <a:pPr algn="ctr"/>
            <a:r>
              <a:rPr lang="en-US" sz="1000" b="1" spc="-50" dirty="0">
                <a:solidFill>
                  <a:schemeClr val="bg1"/>
                </a:solidFill>
                <a:latin typeface="Courier New" panose="02070309020205020404" pitchFamily="49" charset="0"/>
                <a:ea typeface="Tahoma" panose="020B0604030504040204" pitchFamily="34" charset="0"/>
                <a:cs typeface="Courier New" panose="02070309020205020404" pitchFamily="49" charset="0"/>
              </a:rPr>
              <a:t>&lt;input name=“recipe_name”&gt;</a:t>
            </a:r>
          </a:p>
        </p:txBody>
      </p:sp>
      <p:sp>
        <p:nvSpPr>
          <p:cNvPr id="15" name="Rounded Rectangle 14">
            <a:extLst>
              <a:ext uri="{FF2B5EF4-FFF2-40B4-BE49-F238E27FC236}">
                <a16:creationId xmlns:a16="http://schemas.microsoft.com/office/drawing/2014/main" id="{C9A8D284-0669-FEEB-D43B-74B3B172150A}"/>
              </a:ext>
            </a:extLst>
          </p:cNvPr>
          <p:cNvSpPr/>
          <p:nvPr/>
        </p:nvSpPr>
        <p:spPr>
          <a:xfrm>
            <a:off x="5886149" y="2034353"/>
            <a:ext cx="2182530" cy="267854"/>
          </a:xfrm>
          <a:prstGeom prst="roundRect">
            <a:avLst/>
          </a:prstGeom>
          <a:solidFill>
            <a:srgbClr val="00B050"/>
          </a:solidFill>
          <a:ln w="28575">
            <a:noFill/>
          </a:ln>
          <a:effectLst>
            <a:glow rad="228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b="1" dirty="0">
              <a:solidFill>
                <a:srgbClr val="00B050"/>
              </a:solidFill>
              <a:latin typeface="Courier New" panose="02070309020205020404" pitchFamily="49" charset="0"/>
              <a:ea typeface="Tahoma" panose="020B0604030504040204" pitchFamily="34" charset="0"/>
              <a:cs typeface="Courier New" panose="02070309020205020404" pitchFamily="49" charset="0"/>
            </a:endParaRPr>
          </a:p>
        </p:txBody>
      </p:sp>
      <p:sp>
        <p:nvSpPr>
          <p:cNvPr id="13" name="TextBox 12">
            <a:extLst>
              <a:ext uri="{FF2B5EF4-FFF2-40B4-BE49-F238E27FC236}">
                <a16:creationId xmlns:a16="http://schemas.microsoft.com/office/drawing/2014/main" id="{C918DA51-2C83-A7B0-2C6B-21B5C40C9493}"/>
              </a:ext>
            </a:extLst>
          </p:cNvPr>
          <p:cNvSpPr txBox="1"/>
          <p:nvPr/>
        </p:nvSpPr>
        <p:spPr>
          <a:xfrm>
            <a:off x="5856889" y="2058300"/>
            <a:ext cx="2230099" cy="246221"/>
          </a:xfrm>
          <a:prstGeom prst="rect">
            <a:avLst/>
          </a:prstGeom>
          <a:noFill/>
        </p:spPr>
        <p:txBody>
          <a:bodyPr wrap="none" rtlCol="0">
            <a:spAutoFit/>
          </a:bodyPr>
          <a:lstStyle/>
          <a:p>
            <a:pPr algn="ctr"/>
            <a:r>
              <a:rPr lang="en-US" sz="1000" b="1" spc="-50" dirty="0">
                <a:solidFill>
                  <a:schemeClr val="bg1"/>
                </a:solidFill>
                <a:latin typeface="Courier New" panose="02070309020205020404" pitchFamily="49" charset="0"/>
                <a:ea typeface="Tahoma" panose="020B0604030504040204" pitchFamily="34" charset="0"/>
                <a:cs typeface="Courier New" panose="02070309020205020404" pitchFamily="49" charset="0"/>
              </a:rPr>
              <a:t>&lt;input name=“recipe_likes[]”&gt;</a:t>
            </a:r>
          </a:p>
        </p:txBody>
      </p:sp>
      <p:sp>
        <p:nvSpPr>
          <p:cNvPr id="16" name="Rounded Rectangle 15">
            <a:extLst>
              <a:ext uri="{FF2B5EF4-FFF2-40B4-BE49-F238E27FC236}">
                <a16:creationId xmlns:a16="http://schemas.microsoft.com/office/drawing/2014/main" id="{7299646B-C3CF-6DD4-F650-2D18BD98F266}"/>
              </a:ext>
            </a:extLst>
          </p:cNvPr>
          <p:cNvSpPr/>
          <p:nvPr/>
        </p:nvSpPr>
        <p:spPr>
          <a:xfrm>
            <a:off x="6162440" y="3499358"/>
            <a:ext cx="2642340" cy="267854"/>
          </a:xfrm>
          <a:prstGeom prst="roundRect">
            <a:avLst/>
          </a:prstGeom>
          <a:solidFill>
            <a:srgbClr val="00B050"/>
          </a:solidFill>
          <a:ln w="28575">
            <a:noFill/>
          </a:ln>
          <a:effectLst>
            <a:glow rad="228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b="1" dirty="0">
              <a:solidFill>
                <a:srgbClr val="00B050"/>
              </a:solidFill>
              <a:latin typeface="Courier New" panose="02070309020205020404" pitchFamily="49" charset="0"/>
              <a:ea typeface="Tahoma" panose="020B0604030504040204" pitchFamily="34" charset="0"/>
              <a:cs typeface="Courier New" panose="02070309020205020404" pitchFamily="49" charset="0"/>
            </a:endParaRPr>
          </a:p>
        </p:txBody>
      </p:sp>
      <p:sp>
        <p:nvSpPr>
          <p:cNvPr id="17" name="TextBox 16">
            <a:extLst>
              <a:ext uri="{FF2B5EF4-FFF2-40B4-BE49-F238E27FC236}">
                <a16:creationId xmlns:a16="http://schemas.microsoft.com/office/drawing/2014/main" id="{EED876FB-E07F-5021-7848-2D5DE65FD98B}"/>
              </a:ext>
            </a:extLst>
          </p:cNvPr>
          <p:cNvSpPr txBox="1"/>
          <p:nvPr/>
        </p:nvSpPr>
        <p:spPr>
          <a:xfrm>
            <a:off x="6151489" y="3523305"/>
            <a:ext cx="2653291" cy="246221"/>
          </a:xfrm>
          <a:prstGeom prst="rect">
            <a:avLst/>
          </a:prstGeom>
          <a:noFill/>
        </p:spPr>
        <p:txBody>
          <a:bodyPr wrap="none" rtlCol="0">
            <a:spAutoFit/>
          </a:bodyPr>
          <a:lstStyle/>
          <a:p>
            <a:pPr algn="ctr"/>
            <a:r>
              <a:rPr lang="en-US" sz="1000" b="1" spc="-50" dirty="0">
                <a:solidFill>
                  <a:schemeClr val="bg1"/>
                </a:solidFill>
                <a:latin typeface="Courier New" panose="02070309020205020404" pitchFamily="49" charset="0"/>
                <a:ea typeface="Tahoma" panose="020B0604030504040204" pitchFamily="34" charset="0"/>
                <a:cs typeface="Courier New" panose="02070309020205020404" pitchFamily="49" charset="0"/>
              </a:rPr>
              <a:t>&lt;input name=“recipe_ingredients[]”&gt;</a:t>
            </a:r>
          </a:p>
        </p:txBody>
      </p:sp>
      <p:sp>
        <p:nvSpPr>
          <p:cNvPr id="22" name="Rounded Rectangle 21">
            <a:extLst>
              <a:ext uri="{FF2B5EF4-FFF2-40B4-BE49-F238E27FC236}">
                <a16:creationId xmlns:a16="http://schemas.microsoft.com/office/drawing/2014/main" id="{CBE66367-0B23-1ED8-D322-3AE80745593C}"/>
              </a:ext>
            </a:extLst>
          </p:cNvPr>
          <p:cNvSpPr/>
          <p:nvPr/>
        </p:nvSpPr>
        <p:spPr>
          <a:xfrm>
            <a:off x="5966613" y="4665498"/>
            <a:ext cx="2838168" cy="267854"/>
          </a:xfrm>
          <a:prstGeom prst="roundRect">
            <a:avLst/>
          </a:prstGeom>
          <a:solidFill>
            <a:srgbClr val="00B050"/>
          </a:solidFill>
          <a:ln w="2857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00" b="1" dirty="0">
              <a:solidFill>
                <a:srgbClr val="00B050"/>
              </a:solidFill>
              <a:latin typeface="Courier New" panose="02070309020205020404" pitchFamily="49" charset="0"/>
              <a:ea typeface="Tahoma" panose="020B0604030504040204" pitchFamily="34" charset="0"/>
              <a:cs typeface="Courier New" panose="02070309020205020404" pitchFamily="49" charset="0"/>
            </a:endParaRPr>
          </a:p>
        </p:txBody>
      </p:sp>
      <p:sp>
        <p:nvSpPr>
          <p:cNvPr id="23" name="TextBox 22">
            <a:extLst>
              <a:ext uri="{FF2B5EF4-FFF2-40B4-BE49-F238E27FC236}">
                <a16:creationId xmlns:a16="http://schemas.microsoft.com/office/drawing/2014/main" id="{60143BF4-303D-66B0-0D27-A2227C74F61B}"/>
              </a:ext>
            </a:extLst>
          </p:cNvPr>
          <p:cNvSpPr txBox="1"/>
          <p:nvPr/>
        </p:nvSpPr>
        <p:spPr>
          <a:xfrm>
            <a:off x="5939892" y="4681780"/>
            <a:ext cx="2864888" cy="246221"/>
          </a:xfrm>
          <a:prstGeom prst="rect">
            <a:avLst/>
          </a:prstGeom>
          <a:noFill/>
          <a:effectLst/>
        </p:spPr>
        <p:txBody>
          <a:bodyPr wrap="none" rtlCol="0">
            <a:spAutoFit/>
          </a:bodyPr>
          <a:lstStyle/>
          <a:p>
            <a:pPr algn="ctr"/>
            <a:r>
              <a:rPr lang="en-US" sz="1000" b="1" spc="-50" dirty="0">
                <a:solidFill>
                  <a:schemeClr val="bg1"/>
                </a:solidFill>
                <a:latin typeface="Courier New" panose="02070309020205020404" pitchFamily="49" charset="0"/>
                <a:ea typeface="Tahoma" panose="020B0604030504040204" pitchFamily="34" charset="0"/>
                <a:cs typeface="Courier New" panose="02070309020205020404" pitchFamily="49" charset="0"/>
              </a:rPr>
              <a:t>&lt;input name=“recipe_id” type=“hidden”&gt;</a:t>
            </a:r>
          </a:p>
        </p:txBody>
      </p:sp>
      <p:sp>
        <p:nvSpPr>
          <p:cNvPr id="24" name="Rectangle 23">
            <a:extLst>
              <a:ext uri="{FF2B5EF4-FFF2-40B4-BE49-F238E27FC236}">
                <a16:creationId xmlns:a16="http://schemas.microsoft.com/office/drawing/2014/main" id="{80B20869-35A3-A8DB-9072-EBF861B77ABE}"/>
              </a:ext>
            </a:extLst>
          </p:cNvPr>
          <p:cNvSpPr/>
          <p:nvPr/>
        </p:nvSpPr>
        <p:spPr>
          <a:xfrm>
            <a:off x="5778568" y="4700369"/>
            <a:ext cx="45719" cy="182907"/>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56D2086-0472-4FE5-A3F3-8400B4CCA4C8}"/>
              </a:ext>
            </a:extLst>
          </p:cNvPr>
          <p:cNvSpPr/>
          <p:nvPr/>
        </p:nvSpPr>
        <p:spPr>
          <a:xfrm rot="5400000">
            <a:off x="5774013" y="4702013"/>
            <a:ext cx="45719" cy="182907"/>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descr="A screenshot of a website&#10;&#10;Description automatically generated">
            <a:extLst>
              <a:ext uri="{FF2B5EF4-FFF2-40B4-BE49-F238E27FC236}">
                <a16:creationId xmlns:a16="http://schemas.microsoft.com/office/drawing/2014/main" id="{CA47C2FC-C926-4444-EF39-F6D57898D5DC}"/>
              </a:ext>
            </a:extLst>
          </p:cNvPr>
          <p:cNvPicPr>
            <a:picLocks noChangeAspect="1"/>
          </p:cNvPicPr>
          <p:nvPr/>
        </p:nvPicPr>
        <p:blipFill>
          <a:blip r:embed="rId5"/>
          <a:stretch>
            <a:fillRect/>
          </a:stretch>
        </p:blipFill>
        <p:spPr>
          <a:xfrm>
            <a:off x="3838974" y="613107"/>
            <a:ext cx="4432300" cy="3378200"/>
          </a:xfrm>
          <a:prstGeom prst="rect">
            <a:avLst/>
          </a:prstGeom>
        </p:spPr>
      </p:pic>
    </p:spTree>
    <p:extLst>
      <p:ext uri="{BB962C8B-B14F-4D97-AF65-F5344CB8AC3E}">
        <p14:creationId xmlns:p14="http://schemas.microsoft.com/office/powerpoint/2010/main" val="3431777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2" nodeType="clickEffect">
                                  <p:stCondLst>
                                    <p:cond delay="0"/>
                                  </p:stCondLst>
                                  <p:childTnLst>
                                    <p:set>
                                      <p:cBhvr>
                                        <p:cTn id="30" dur="1" fill="hold">
                                          <p:stCondLst>
                                            <p:cond delay="0"/>
                                          </p:stCondLst>
                                        </p:cTn>
                                        <p:tgtEl>
                                          <p:spTgt spid="7"/>
                                        </p:tgtEl>
                                        <p:attrNameLst>
                                          <p:attrName>style.visibility</p:attrName>
                                        </p:attrNameLst>
                                      </p:cBhvr>
                                      <p:to>
                                        <p:strVal val="hidden"/>
                                      </p:to>
                                    </p:set>
                                  </p:childTnLst>
                                </p:cTn>
                              </p:par>
                              <p:par>
                                <p:cTn id="31" presetID="1" presetClass="exit" presetSubtype="0" fill="hold" grpId="2" nodeType="withEffect">
                                  <p:stCondLst>
                                    <p:cond delay="0"/>
                                  </p:stCondLst>
                                  <p:childTnLst>
                                    <p:set>
                                      <p:cBhvr>
                                        <p:cTn id="32" dur="1" fill="hold">
                                          <p:stCondLst>
                                            <p:cond delay="0"/>
                                          </p:stCondLst>
                                        </p:cTn>
                                        <p:tgtEl>
                                          <p:spTgt spid="8"/>
                                        </p:tgtEl>
                                        <p:attrNameLst>
                                          <p:attrName>style.visibility</p:attrName>
                                        </p:attrNameLst>
                                      </p:cBhvr>
                                      <p:to>
                                        <p:strVal val="hidden"/>
                                      </p:to>
                                    </p:set>
                                  </p:childTnLst>
                                </p:cTn>
                              </p:par>
                              <p:par>
                                <p:cTn id="33" presetID="1" presetClass="exit" presetSubtype="0" fill="hold" grpId="2" nodeType="withEffect">
                                  <p:stCondLst>
                                    <p:cond delay="0"/>
                                  </p:stCondLst>
                                  <p:childTnLst>
                                    <p:set>
                                      <p:cBhvr>
                                        <p:cTn id="34" dur="1" fill="hold">
                                          <p:stCondLst>
                                            <p:cond delay="0"/>
                                          </p:stCondLst>
                                        </p:cTn>
                                        <p:tgtEl>
                                          <p:spTgt spid="15"/>
                                        </p:tgtEl>
                                        <p:attrNameLst>
                                          <p:attrName>style.visibility</p:attrName>
                                        </p:attrNameLst>
                                      </p:cBhvr>
                                      <p:to>
                                        <p:strVal val="hidden"/>
                                      </p:to>
                                    </p:set>
                                  </p:childTnLst>
                                </p:cTn>
                              </p:par>
                              <p:par>
                                <p:cTn id="35" presetID="1" presetClass="exit" presetSubtype="0" fill="hold" grpId="2" nodeType="withEffect">
                                  <p:stCondLst>
                                    <p:cond delay="0"/>
                                  </p:stCondLst>
                                  <p:childTnLst>
                                    <p:set>
                                      <p:cBhvr>
                                        <p:cTn id="36" dur="1" fill="hold">
                                          <p:stCondLst>
                                            <p:cond delay="0"/>
                                          </p:stCondLst>
                                        </p:cTn>
                                        <p:tgtEl>
                                          <p:spTgt spid="13"/>
                                        </p:tgtEl>
                                        <p:attrNameLst>
                                          <p:attrName>style.visibility</p:attrName>
                                        </p:attrNameLst>
                                      </p:cBhvr>
                                      <p:to>
                                        <p:strVal val="hidden"/>
                                      </p:to>
                                    </p:set>
                                  </p:childTnLst>
                                </p:cTn>
                              </p:par>
                              <p:par>
                                <p:cTn id="37" presetID="1" presetClass="exit" presetSubtype="0" fill="hold" grpId="2" nodeType="withEffect">
                                  <p:stCondLst>
                                    <p:cond delay="0"/>
                                  </p:stCondLst>
                                  <p:childTnLst>
                                    <p:set>
                                      <p:cBhvr>
                                        <p:cTn id="38" dur="1" fill="hold">
                                          <p:stCondLst>
                                            <p:cond delay="0"/>
                                          </p:stCondLst>
                                        </p:cTn>
                                        <p:tgtEl>
                                          <p:spTgt spid="16"/>
                                        </p:tgtEl>
                                        <p:attrNameLst>
                                          <p:attrName>style.visibility</p:attrName>
                                        </p:attrNameLst>
                                      </p:cBhvr>
                                      <p:to>
                                        <p:strVal val="hidden"/>
                                      </p:to>
                                    </p:set>
                                  </p:childTnLst>
                                </p:cTn>
                              </p:par>
                              <p:par>
                                <p:cTn id="39" presetID="1" presetClass="exit" presetSubtype="0" fill="hold" grpId="2" nodeType="withEffect">
                                  <p:stCondLst>
                                    <p:cond delay="0"/>
                                  </p:stCondLst>
                                  <p:childTnLst>
                                    <p:set>
                                      <p:cBhvr>
                                        <p:cTn id="40" dur="1" fill="hold">
                                          <p:stCondLst>
                                            <p:cond delay="0"/>
                                          </p:stCondLst>
                                        </p:cTn>
                                        <p:tgtEl>
                                          <p:spTgt spid="17"/>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0"/>
                                          </p:stCondLst>
                                        </p:cTn>
                                        <p:tgtEl>
                                          <p:spTgt spid="27"/>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7"/>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8"/>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15"/>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13"/>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16"/>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17"/>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22"/>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23"/>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24"/>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25"/>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31"/>
                                        </p:tgtEl>
                                        <p:attrNameLst>
                                          <p:attrName>style.visibility</p:attrName>
                                        </p:attrNameLst>
                                      </p:cBhvr>
                                      <p:to>
                                        <p:strVal val="hidden"/>
                                      </p:to>
                                    </p:set>
                                  </p:childTnLst>
                                </p:cTn>
                              </p:par>
                              <p:par>
                                <p:cTn id="67" presetID="1" presetClass="entr" presetSubtype="0" fill="hold" nodeType="withEffect">
                                  <p:stCondLst>
                                    <p:cond delay="0"/>
                                  </p:stCondLst>
                                  <p:childTnLst>
                                    <p:set>
                                      <p:cBhvr>
                                        <p:cTn id="6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P spid="8" grpId="0"/>
      <p:bldP spid="8" grpId="1"/>
      <p:bldP spid="8" grpId="2"/>
      <p:bldP spid="15" grpId="0" animBg="1"/>
      <p:bldP spid="15" grpId="1" animBg="1"/>
      <p:bldP spid="15" grpId="2" animBg="1"/>
      <p:bldP spid="13" grpId="0"/>
      <p:bldP spid="13" grpId="1"/>
      <p:bldP spid="13" grpId="2"/>
      <p:bldP spid="16" grpId="0" animBg="1"/>
      <p:bldP spid="16" grpId="1" animBg="1"/>
      <p:bldP spid="16" grpId="2" animBg="1"/>
      <p:bldP spid="17" grpId="0"/>
      <p:bldP spid="17" grpId="1"/>
      <p:bldP spid="17" grpId="2"/>
      <p:bldP spid="22" grpId="0" animBg="1"/>
      <p:bldP spid="22" grpId="1" animBg="1"/>
      <p:bldP spid="23" grpId="0"/>
      <p:bldP spid="23" grpId="1"/>
      <p:bldP spid="24" grpId="0" animBg="1"/>
      <p:bldP spid="24" grpId="1" animBg="1"/>
      <p:bldP spid="25" grpId="0" animBg="1"/>
      <p:bldP spid="25"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FD8392E-5437-70B0-8117-0129C672D63E}"/>
              </a:ext>
            </a:extLst>
          </p:cNvPr>
          <p:cNvSpPr txBox="1"/>
          <p:nvPr/>
        </p:nvSpPr>
        <p:spPr>
          <a:xfrm>
            <a:off x="1153083" y="1874862"/>
            <a:ext cx="6837834" cy="2215991"/>
          </a:xfrm>
          <a:prstGeom prst="rect">
            <a:avLst/>
          </a:prstGeom>
          <a:noFill/>
        </p:spPr>
        <p:txBody>
          <a:bodyPr wrap="none" rtlCol="0">
            <a:spAutoFit/>
          </a:bodyPr>
          <a:lstStyle/>
          <a:p>
            <a:r>
              <a:rPr lang="en-US" sz="13800" dirty="0">
                <a:solidFill>
                  <a:srgbClr val="FF0000"/>
                </a:solidFill>
                <a:latin typeface="Brush Script MT" panose="03060802040406070304" pitchFamily="66" charset="-122"/>
                <a:ea typeface="Brush Script MT" panose="03060802040406070304" pitchFamily="66" charset="-122"/>
                <a:cs typeface="Brush Script MT" panose="03060802040406070304" pitchFamily="66" charset="-122"/>
              </a:rPr>
              <a:t>Thank you!</a:t>
            </a:r>
          </a:p>
        </p:txBody>
      </p:sp>
      <p:sp>
        <p:nvSpPr>
          <p:cNvPr id="7" name="TextBox 6">
            <a:extLst>
              <a:ext uri="{FF2B5EF4-FFF2-40B4-BE49-F238E27FC236}">
                <a16:creationId xmlns:a16="http://schemas.microsoft.com/office/drawing/2014/main" id="{25F301AD-C763-BD09-F6A6-2C3261DB13C9}"/>
              </a:ext>
            </a:extLst>
          </p:cNvPr>
          <p:cNvSpPr txBox="1"/>
          <p:nvPr/>
        </p:nvSpPr>
        <p:spPr>
          <a:xfrm>
            <a:off x="3878861" y="4454888"/>
            <a:ext cx="1788951" cy="461665"/>
          </a:xfrm>
          <a:prstGeom prst="rect">
            <a:avLst/>
          </a:prstGeom>
          <a:noFill/>
        </p:spPr>
        <p:txBody>
          <a:bodyPr wrap="none" rtlCol="0">
            <a:spAutoFit/>
          </a:bodyPr>
          <a:lstStyle/>
          <a:p>
            <a:r>
              <a:rPr lang="en-US" sz="2400" dirty="0"/>
              <a:t>QUESTIONS?</a:t>
            </a:r>
          </a:p>
        </p:txBody>
      </p:sp>
      <p:pic>
        <p:nvPicPr>
          <p:cNvPr id="9" name="Picture 8" descr="A blue and pink letters on a black background&#10;&#10;Description automatically generated">
            <a:extLst>
              <a:ext uri="{FF2B5EF4-FFF2-40B4-BE49-F238E27FC236}">
                <a16:creationId xmlns:a16="http://schemas.microsoft.com/office/drawing/2014/main" id="{3E95F2AA-959E-10D2-1820-1E236C675B59}"/>
              </a:ext>
            </a:extLst>
          </p:cNvPr>
          <p:cNvPicPr>
            <a:picLocks noChangeAspect="1"/>
          </p:cNvPicPr>
          <p:nvPr/>
        </p:nvPicPr>
        <p:blipFill>
          <a:blip r:embed="rId3"/>
          <a:stretch>
            <a:fillRect/>
          </a:stretch>
        </p:blipFill>
        <p:spPr>
          <a:xfrm rot="470711">
            <a:off x="2548355" y="806924"/>
            <a:ext cx="4449962" cy="1628686"/>
          </a:xfrm>
          <a:prstGeom prst="rect">
            <a:avLst/>
          </a:prstGeom>
        </p:spPr>
      </p:pic>
    </p:spTree>
    <p:extLst>
      <p:ext uri="{BB962C8B-B14F-4D97-AF65-F5344CB8AC3E}">
        <p14:creationId xmlns:p14="http://schemas.microsoft.com/office/powerpoint/2010/main" val="341158978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6852</TotalTime>
  <Words>869</Words>
  <Application>Microsoft Macintosh PowerPoint</Application>
  <PresentationFormat>On-screen Show (16:10)</PresentationFormat>
  <Paragraphs>72</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Brush Script MT</vt:lpstr>
      <vt:lpstr>Arial</vt:lpstr>
      <vt:lpstr>Calibri</vt:lpstr>
      <vt:lpstr>Calibri Light</vt:lpstr>
      <vt:lpstr>Courier New</vt:lpstr>
      <vt:lpstr>Office Theme</vt:lpstr>
      <vt:lpstr>PowerPoint Presentation</vt:lpstr>
      <vt:lpstr>About</vt:lpstr>
      <vt:lpstr>Key Features</vt:lpstr>
      <vt:lpstr>Database Tables</vt:lpstr>
      <vt:lpstr>Challenges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About</dc:title>
  <dc:creator>Jesse Kercheval</dc:creator>
  <cp:lastModifiedBy>Jesse Kercheval</cp:lastModifiedBy>
  <cp:revision>9</cp:revision>
  <dcterms:created xsi:type="dcterms:W3CDTF">2023-07-23T20:10:19Z</dcterms:created>
  <dcterms:modified xsi:type="dcterms:W3CDTF">2023-07-28T14:22:48Z</dcterms:modified>
</cp:coreProperties>
</file>